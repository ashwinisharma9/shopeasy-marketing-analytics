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636"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247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2A5F5"/>
          </a:solidFill>
          <a:ln w="12700">
            <a:solidFill>
              <a:srgbClr val="42A5F5"/>
            </a:solidFill>
            <a:prstDash val="solid"/>
          </a:ln>
        </p:spPr>
      </p:sp>
      <p:sp>
        <p:nvSpPr>
          <p:cNvPr id="3" name="Shape 1"/>
          <p:cNvSpPr/>
          <p:nvPr/>
        </p:nvSpPr>
        <p:spPr>
          <a:xfrm>
            <a:off x="5943600" y="-1097280"/>
            <a:ext cx="5029200" cy="5029200"/>
          </a:xfrm>
          <a:prstGeom prst="ellipse">
            <a:avLst/>
          </a:prstGeom>
          <a:solidFill>
            <a:srgbClr val="1565C0">
              <a:alpha val="18000"/>
            </a:srgbClr>
          </a:solidFill>
          <a:ln w="12700">
            <a:solidFill>
              <a:srgbClr val="1565C0">
                <a:alpha val="18000"/>
              </a:srgbClr>
            </a:solidFill>
            <a:prstDash val="solid"/>
          </a:ln>
        </p:spPr>
      </p:sp>
      <p:sp>
        <p:nvSpPr>
          <p:cNvPr id="4" name="Shape 2"/>
          <p:cNvSpPr/>
          <p:nvPr/>
        </p:nvSpPr>
        <p:spPr>
          <a:xfrm>
            <a:off x="6583680" y="-457200"/>
            <a:ext cx="3474720" cy="3474720"/>
          </a:xfrm>
          <a:prstGeom prst="ellipse">
            <a:avLst/>
          </a:prstGeom>
          <a:solidFill>
            <a:srgbClr val="42A5F5">
              <a:alpha val="12000"/>
            </a:srgbClr>
          </a:solidFill>
          <a:ln w="12700">
            <a:solidFill>
              <a:srgbClr val="42A5F5">
                <a:alpha val="12000"/>
              </a:srgbClr>
            </a:solidFill>
            <a:prstDash val="solid"/>
          </a:ln>
        </p:spPr>
      </p:sp>
      <p:pic>
        <p:nvPicPr>
          <p:cNvPr id="5" name="Image 0" descr="preencoded.png"/>
          <p:cNvPicPr>
            <a:picLocks noChangeAspect="1"/>
          </p:cNvPicPr>
          <p:nvPr/>
        </p:nvPicPr>
        <p:blipFill>
          <a:blip r:embed="rId3"/>
          <a:stretch>
            <a:fillRect/>
          </a:stretch>
        </p:blipFill>
        <p:spPr>
          <a:xfrm>
            <a:off x="6858000" y="548640"/>
            <a:ext cx="1645920" cy="1645920"/>
          </a:xfrm>
          <a:prstGeom prst="rect">
            <a:avLst/>
          </a:prstGeom>
        </p:spPr>
      </p:pic>
      <p:sp>
        <p:nvSpPr>
          <p:cNvPr id="6" name="Text 3"/>
          <p:cNvSpPr/>
          <p:nvPr/>
        </p:nvSpPr>
        <p:spPr>
          <a:xfrm>
            <a:off x="457200" y="1234440"/>
            <a:ext cx="5486400" cy="320040"/>
          </a:xfrm>
          <a:prstGeom prst="rect">
            <a:avLst/>
          </a:prstGeom>
          <a:noFill/>
          <a:ln/>
        </p:spPr>
        <p:txBody>
          <a:bodyPr wrap="square" lIns="0" tIns="0" rIns="0" bIns="0" rtlCol="0" anchor="ctr"/>
          <a:lstStyle/>
          <a:p>
            <a:pPr marL="0" indent="0">
              <a:buNone/>
            </a:pPr>
            <a:r>
              <a:rPr lang="en-US" sz="950" b="1" kern="0" spc="300" dirty="0">
                <a:solidFill>
                  <a:srgbClr val="42A5F5"/>
                </a:solidFill>
                <a:latin typeface="Calibri" pitchFamily="34" charset="0"/>
                <a:ea typeface="Calibri" pitchFamily="34" charset="-122"/>
                <a:cs typeface="Calibri" pitchFamily="34" charset="-120"/>
              </a:rPr>
              <a:t>CASE STUDY  ·  DATA ANALYTICS</a:t>
            </a:r>
            <a:endParaRPr lang="en-US" sz="950" dirty="0"/>
          </a:p>
        </p:txBody>
      </p:sp>
      <p:sp>
        <p:nvSpPr>
          <p:cNvPr id="7" name="Text 4"/>
          <p:cNvSpPr/>
          <p:nvPr/>
        </p:nvSpPr>
        <p:spPr>
          <a:xfrm>
            <a:off x="457200" y="1485900"/>
            <a:ext cx="6400800" cy="2171700"/>
          </a:xfrm>
          <a:prstGeom prst="rect">
            <a:avLst/>
          </a:prstGeom>
          <a:noFill/>
          <a:ln/>
        </p:spPr>
        <p:txBody>
          <a:bodyPr wrap="square" lIns="0" tIns="0" rIns="0" bIns="0" rtlCol="0" anchor="ctr"/>
          <a:lstStyle/>
          <a:p>
            <a:pPr>
              <a:lnSpc>
                <a:spcPct val="115000"/>
              </a:lnSpc>
            </a:pPr>
            <a:r>
              <a:rPr lang="en-US" sz="3600" b="1" dirty="0" err="1">
                <a:solidFill>
                  <a:srgbClr val="FFFFFF"/>
                </a:solidFill>
                <a:latin typeface="Calibri" pitchFamily="34" charset="0"/>
                <a:ea typeface="Calibri" pitchFamily="34" charset="-122"/>
                <a:cs typeface="Calibri" pitchFamily="34" charset="-120"/>
              </a:rPr>
              <a:t>ShopEasy</a:t>
            </a:r>
            <a:r>
              <a:rPr lang="en-US" sz="3600" b="1" dirty="0">
                <a:solidFill>
                  <a:srgbClr val="FFFFFF"/>
                </a:solidFill>
                <a:latin typeface="Calibri" pitchFamily="34" charset="0"/>
                <a:ea typeface="Calibri" pitchFamily="34" charset="-122"/>
                <a:cs typeface="Calibri" pitchFamily="34" charset="-120"/>
              </a:rPr>
              <a:t> E-Commerce</a:t>
            </a:r>
          </a:p>
          <a:p>
            <a:pPr>
              <a:lnSpc>
                <a:spcPct val="115000"/>
              </a:lnSpc>
            </a:pPr>
            <a:r>
              <a:rPr lang="en-US" sz="3600" b="1" dirty="0">
                <a:solidFill>
                  <a:srgbClr val="FFFFFF"/>
                </a:solidFill>
                <a:latin typeface="Calibri" pitchFamily="34" charset="0"/>
                <a:ea typeface="Calibri" pitchFamily="34" charset="-122"/>
                <a:cs typeface="Calibri" pitchFamily="34" charset="-120"/>
              </a:rPr>
              <a:t>Marketing Analytics &amp; Conversion Optimization</a:t>
            </a:r>
            <a:endParaRPr lang="en-US" sz="3600" dirty="0"/>
          </a:p>
        </p:txBody>
      </p:sp>
      <p:sp>
        <p:nvSpPr>
          <p:cNvPr id="8" name="Shape 5"/>
          <p:cNvSpPr/>
          <p:nvPr/>
        </p:nvSpPr>
        <p:spPr>
          <a:xfrm>
            <a:off x="457200" y="3657600"/>
            <a:ext cx="1463040" cy="45720"/>
          </a:xfrm>
          <a:prstGeom prst="rect">
            <a:avLst/>
          </a:prstGeom>
          <a:solidFill>
            <a:srgbClr val="00BFA5"/>
          </a:solidFill>
          <a:ln w="12700">
            <a:solidFill>
              <a:srgbClr val="00BFA5"/>
            </a:solidFill>
            <a:prstDash val="solid"/>
          </a:ln>
        </p:spPr>
      </p:sp>
      <p:sp>
        <p:nvSpPr>
          <p:cNvPr id="9" name="Text 6"/>
          <p:cNvSpPr/>
          <p:nvPr/>
        </p:nvSpPr>
        <p:spPr>
          <a:xfrm>
            <a:off x="457200" y="3840480"/>
            <a:ext cx="4572000" cy="365760"/>
          </a:xfrm>
          <a:prstGeom prst="rect">
            <a:avLst/>
          </a:prstGeom>
          <a:noFill/>
          <a:ln/>
        </p:spPr>
        <p:txBody>
          <a:bodyPr wrap="square" lIns="0" tIns="0" rIns="0" bIns="0" rtlCol="0" anchor="ctr"/>
          <a:lstStyle/>
          <a:p>
            <a:pPr marL="0" indent="0">
              <a:buNone/>
            </a:pPr>
            <a:r>
              <a:rPr lang="en-US" sz="1300" b="1" kern="0" spc="200" dirty="0">
                <a:solidFill>
                  <a:srgbClr val="CBD5E1"/>
                </a:solidFill>
                <a:latin typeface="Calibri" pitchFamily="34" charset="0"/>
                <a:ea typeface="Calibri" pitchFamily="34" charset="-122"/>
                <a:cs typeface="Calibri" pitchFamily="34" charset="-120"/>
              </a:rPr>
              <a:t>ASHWINI SHARMA</a:t>
            </a:r>
            <a:endParaRPr lang="en-US" sz="1300" dirty="0"/>
          </a:p>
        </p:txBody>
      </p:sp>
      <p:sp>
        <p:nvSpPr>
          <p:cNvPr id="10" name="Text 7"/>
          <p:cNvSpPr/>
          <p:nvPr/>
        </p:nvSpPr>
        <p:spPr>
          <a:xfrm>
            <a:off x="457200" y="4224528"/>
            <a:ext cx="45720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Data Analyst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D1B2A"/>
          </a:solidFill>
          <a:ln w="12700">
            <a:solidFill>
              <a:srgbClr val="0D1B2A"/>
            </a:solidFill>
            <a:prstDash val="solid"/>
          </a:ln>
        </p:spPr>
      </p:sp>
      <p:sp>
        <p:nvSpPr>
          <p:cNvPr id="3" name="Text 1"/>
          <p:cNvSpPr/>
          <p:nvPr/>
        </p:nvSpPr>
        <p:spPr>
          <a:xfrm>
            <a:off x="457200" y="0"/>
            <a:ext cx="8229600" cy="1097280"/>
          </a:xfrm>
          <a:prstGeom prst="rect">
            <a:avLst/>
          </a:prstGeom>
          <a:noFill/>
          <a:ln/>
        </p:spPr>
        <p:txBody>
          <a:bodyPr wrap="square" lIns="0" tIns="0" rIns="0" bIns="0" rtlCol="0" anchor="ctr"/>
          <a:lstStyle/>
          <a:p>
            <a:pPr marL="0" indent="0">
              <a:buNone/>
            </a:pPr>
            <a:r>
              <a:rPr lang="en-US" sz="1800" b="1" kern="0" spc="100" dirty="0">
                <a:solidFill>
                  <a:srgbClr val="FFFFFF"/>
                </a:solidFill>
                <a:latin typeface="Calibri" pitchFamily="34" charset="0"/>
                <a:ea typeface="Calibri" pitchFamily="34" charset="-122"/>
                <a:cs typeface="Calibri" pitchFamily="34" charset="-120"/>
              </a:rPr>
              <a:t>INTRODUCTION TO BUSINESS PROBLEM</a:t>
            </a:r>
            <a:endParaRPr lang="en-US" sz="1800" dirty="0"/>
          </a:p>
        </p:txBody>
      </p:sp>
      <p:sp>
        <p:nvSpPr>
          <p:cNvPr id="4" name="Text 2"/>
          <p:cNvSpPr/>
          <p:nvPr/>
        </p:nvSpPr>
        <p:spPr>
          <a:xfrm>
            <a:off x="457200" y="1234440"/>
            <a:ext cx="8229600" cy="777240"/>
          </a:xfrm>
          <a:prstGeom prst="rect">
            <a:avLst/>
          </a:prstGeom>
          <a:noFill/>
          <a:ln/>
        </p:spPr>
        <p:txBody>
          <a:bodyPr wrap="square" lIns="0" tIns="0" rIns="0" bIns="0" rtlCol="0" anchor="ctr"/>
          <a:lstStyle/>
          <a:p>
            <a:pPr marL="0" indent="0">
              <a:lnSpc>
                <a:spcPct val="140000"/>
              </a:lnSpc>
              <a:buNone/>
            </a:pPr>
            <a:r>
              <a:rPr lang="en-US" sz="1150" dirty="0">
                <a:solidFill>
                  <a:srgbClr val="334155"/>
                </a:solidFill>
                <a:latin typeface="Calibri" pitchFamily="34" charset="0"/>
                <a:ea typeface="Calibri" pitchFamily="34" charset="-122"/>
                <a:cs typeface="Calibri" pitchFamily="34" charset="-120"/>
              </a:rPr>
              <a:t>ShopEasy, an online retail business, is facing reduced customer engagement and conversion rates despite launching several new online marketing campaigns. They are reaching out for a detailed analysis to identify areas for improvement in their marketing strategies.</a:t>
            </a:r>
            <a:endParaRPr lang="en-US" sz="1150" dirty="0"/>
          </a:p>
        </p:txBody>
      </p:sp>
      <p:sp>
        <p:nvSpPr>
          <p:cNvPr id="5" name="Shape 3"/>
          <p:cNvSpPr/>
          <p:nvPr/>
        </p:nvSpPr>
        <p:spPr>
          <a:xfrm>
            <a:off x="320040" y="2148840"/>
            <a:ext cx="2057400" cy="26060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6" name="Shape 4"/>
          <p:cNvSpPr/>
          <p:nvPr/>
        </p:nvSpPr>
        <p:spPr>
          <a:xfrm>
            <a:off x="320040" y="2148840"/>
            <a:ext cx="2057400" cy="64008"/>
          </a:xfrm>
          <a:prstGeom prst="rect">
            <a:avLst/>
          </a:prstGeom>
          <a:solidFill>
            <a:srgbClr val="1565C0"/>
          </a:solidFill>
          <a:ln w="12700">
            <a:solidFill>
              <a:srgbClr val="1565C0"/>
            </a:solidFill>
            <a:prstDash val="solid"/>
          </a:ln>
        </p:spPr>
      </p:sp>
      <p:pic>
        <p:nvPicPr>
          <p:cNvPr id="7" name="Image 0" descr="preencoded.png"/>
          <p:cNvPicPr>
            <a:picLocks noChangeAspect="1"/>
          </p:cNvPicPr>
          <p:nvPr/>
        </p:nvPicPr>
        <p:blipFill>
          <a:blip r:embed="rId3"/>
          <a:stretch>
            <a:fillRect/>
          </a:stretch>
        </p:blipFill>
        <p:spPr>
          <a:xfrm>
            <a:off x="429768" y="2267712"/>
            <a:ext cx="384048" cy="384048"/>
          </a:xfrm>
          <a:prstGeom prst="rect">
            <a:avLst/>
          </a:prstGeom>
        </p:spPr>
      </p:pic>
      <p:sp>
        <p:nvSpPr>
          <p:cNvPr id="8" name="Text 5"/>
          <p:cNvSpPr/>
          <p:nvPr/>
        </p:nvSpPr>
        <p:spPr>
          <a:xfrm>
            <a:off x="429768" y="2706624"/>
            <a:ext cx="1828800" cy="475488"/>
          </a:xfrm>
          <a:prstGeom prst="rect">
            <a:avLst/>
          </a:prstGeom>
          <a:noFill/>
          <a:ln/>
        </p:spPr>
        <p:txBody>
          <a:bodyPr wrap="square" lIns="0" tIns="0" rIns="0" bIns="0" rtlCol="0" anchor="ctr"/>
          <a:lstStyle/>
          <a:p>
            <a:pPr marL="0" indent="0">
              <a:lnSpc>
                <a:spcPct val="120000"/>
              </a:lnSpc>
              <a:buNone/>
            </a:pPr>
            <a:r>
              <a:rPr lang="en-US" sz="1000" b="1" dirty="0">
                <a:solidFill>
                  <a:srgbClr val="0D1B2A"/>
                </a:solidFill>
                <a:latin typeface="Calibri" pitchFamily="34" charset="0"/>
                <a:ea typeface="Calibri" pitchFamily="34" charset="-122"/>
                <a:cs typeface="Calibri" pitchFamily="34" charset="-120"/>
              </a:rPr>
              <a:t>Reduced Customer Engagement</a:t>
            </a:r>
            <a:endParaRPr lang="en-US" sz="1000" dirty="0"/>
          </a:p>
        </p:txBody>
      </p:sp>
      <p:sp>
        <p:nvSpPr>
          <p:cNvPr id="9" name="Text 6"/>
          <p:cNvSpPr/>
          <p:nvPr/>
        </p:nvSpPr>
        <p:spPr>
          <a:xfrm>
            <a:off x="429768" y="3200400"/>
            <a:ext cx="1847088" cy="1371600"/>
          </a:xfrm>
          <a:prstGeom prst="rect">
            <a:avLst/>
          </a:prstGeom>
          <a:noFill/>
          <a:ln/>
        </p:spPr>
        <p:txBody>
          <a:bodyPr wrap="square" lIns="0" tIns="0" rIns="0" bIns="0" rtlCol="0" anchor="ctr"/>
          <a:lstStyle/>
          <a:p>
            <a:pPr marL="0" indent="0">
              <a:lnSpc>
                <a:spcPct val="135000"/>
              </a:lnSpc>
              <a:buNone/>
            </a:pPr>
            <a:r>
              <a:rPr lang="en-US" sz="900" dirty="0">
                <a:solidFill>
                  <a:srgbClr val="475569"/>
                </a:solidFill>
                <a:latin typeface="Calibri" pitchFamily="34" charset="0"/>
                <a:ea typeface="Calibri" pitchFamily="34" charset="-122"/>
                <a:cs typeface="Calibri" pitchFamily="34" charset="-120"/>
              </a:rPr>
              <a:t>Number of customer interactions and engagement with the site and marketing content has declined significantly.</a:t>
            </a:r>
            <a:endParaRPr lang="en-US" sz="900" dirty="0"/>
          </a:p>
        </p:txBody>
      </p:sp>
      <p:sp>
        <p:nvSpPr>
          <p:cNvPr id="10" name="Shape 7"/>
          <p:cNvSpPr/>
          <p:nvPr/>
        </p:nvSpPr>
        <p:spPr>
          <a:xfrm>
            <a:off x="2514600" y="2148840"/>
            <a:ext cx="2057400" cy="26060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1" name="Shape 8"/>
          <p:cNvSpPr/>
          <p:nvPr/>
        </p:nvSpPr>
        <p:spPr>
          <a:xfrm>
            <a:off x="2514600" y="2148840"/>
            <a:ext cx="2057400" cy="64008"/>
          </a:xfrm>
          <a:prstGeom prst="rect">
            <a:avLst/>
          </a:prstGeom>
          <a:solidFill>
            <a:srgbClr val="FF8F00"/>
          </a:solidFill>
          <a:ln w="12700">
            <a:solidFill>
              <a:srgbClr val="FF8F00"/>
            </a:solidFill>
            <a:prstDash val="solid"/>
          </a:ln>
        </p:spPr>
      </p:sp>
      <p:pic>
        <p:nvPicPr>
          <p:cNvPr id="12" name="Image 1" descr="preencoded.png"/>
          <p:cNvPicPr>
            <a:picLocks noChangeAspect="1"/>
          </p:cNvPicPr>
          <p:nvPr/>
        </p:nvPicPr>
        <p:blipFill>
          <a:blip r:embed="rId4"/>
          <a:stretch>
            <a:fillRect/>
          </a:stretch>
        </p:blipFill>
        <p:spPr>
          <a:xfrm>
            <a:off x="2624328" y="2267712"/>
            <a:ext cx="384048" cy="384048"/>
          </a:xfrm>
          <a:prstGeom prst="rect">
            <a:avLst/>
          </a:prstGeom>
        </p:spPr>
      </p:pic>
      <p:sp>
        <p:nvSpPr>
          <p:cNvPr id="13" name="Text 9"/>
          <p:cNvSpPr/>
          <p:nvPr/>
        </p:nvSpPr>
        <p:spPr>
          <a:xfrm>
            <a:off x="2624328" y="2706624"/>
            <a:ext cx="1828800" cy="475488"/>
          </a:xfrm>
          <a:prstGeom prst="rect">
            <a:avLst/>
          </a:prstGeom>
          <a:noFill/>
          <a:ln/>
        </p:spPr>
        <p:txBody>
          <a:bodyPr wrap="square" lIns="0" tIns="0" rIns="0" bIns="0" rtlCol="0" anchor="ctr"/>
          <a:lstStyle/>
          <a:p>
            <a:pPr marL="0" indent="0">
              <a:lnSpc>
                <a:spcPct val="120000"/>
              </a:lnSpc>
              <a:buNone/>
            </a:pPr>
            <a:r>
              <a:rPr lang="en-US" sz="1000" b="1" dirty="0">
                <a:solidFill>
                  <a:srgbClr val="0D1B2A"/>
                </a:solidFill>
                <a:latin typeface="Calibri" pitchFamily="34" charset="0"/>
                <a:ea typeface="Calibri" pitchFamily="34" charset="-122"/>
                <a:cs typeface="Calibri" pitchFamily="34" charset="-120"/>
              </a:rPr>
              <a:t>Decreased Conversion Rates</a:t>
            </a:r>
            <a:endParaRPr lang="en-US" sz="1000" dirty="0"/>
          </a:p>
        </p:txBody>
      </p:sp>
      <p:sp>
        <p:nvSpPr>
          <p:cNvPr id="14" name="Text 10"/>
          <p:cNvSpPr/>
          <p:nvPr/>
        </p:nvSpPr>
        <p:spPr>
          <a:xfrm>
            <a:off x="2624328" y="3200400"/>
            <a:ext cx="1847088" cy="1371600"/>
          </a:xfrm>
          <a:prstGeom prst="rect">
            <a:avLst/>
          </a:prstGeom>
          <a:noFill/>
          <a:ln/>
        </p:spPr>
        <p:txBody>
          <a:bodyPr wrap="square" lIns="0" tIns="0" rIns="0" bIns="0" rtlCol="0" anchor="ctr"/>
          <a:lstStyle/>
          <a:p>
            <a:pPr marL="0" indent="0">
              <a:lnSpc>
                <a:spcPct val="135000"/>
              </a:lnSpc>
              <a:buNone/>
            </a:pPr>
            <a:r>
              <a:rPr lang="en-US" sz="900" dirty="0">
                <a:solidFill>
                  <a:srgbClr val="475569"/>
                </a:solidFill>
                <a:latin typeface="Calibri" pitchFamily="34" charset="0"/>
                <a:ea typeface="Calibri" pitchFamily="34" charset="-122"/>
                <a:cs typeface="Calibri" pitchFamily="34" charset="-120"/>
              </a:rPr>
              <a:t>Fewer site visitors are converting into paying customers, impacting overall revenue generation.</a:t>
            </a:r>
            <a:endParaRPr lang="en-US" sz="900" dirty="0"/>
          </a:p>
        </p:txBody>
      </p:sp>
      <p:sp>
        <p:nvSpPr>
          <p:cNvPr id="15" name="Shape 11"/>
          <p:cNvSpPr/>
          <p:nvPr/>
        </p:nvSpPr>
        <p:spPr>
          <a:xfrm>
            <a:off x="4709160" y="2148840"/>
            <a:ext cx="2057400" cy="26060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6" name="Shape 12"/>
          <p:cNvSpPr/>
          <p:nvPr/>
        </p:nvSpPr>
        <p:spPr>
          <a:xfrm>
            <a:off x="4709160" y="2148840"/>
            <a:ext cx="2057400" cy="64008"/>
          </a:xfrm>
          <a:prstGeom prst="rect">
            <a:avLst/>
          </a:prstGeom>
          <a:solidFill>
            <a:srgbClr val="E53935"/>
          </a:solidFill>
          <a:ln w="12700">
            <a:solidFill>
              <a:srgbClr val="E53935"/>
            </a:solidFill>
            <a:prstDash val="solid"/>
          </a:ln>
        </p:spPr>
      </p:sp>
      <p:pic>
        <p:nvPicPr>
          <p:cNvPr id="17" name="Image 2" descr="preencoded.png"/>
          <p:cNvPicPr>
            <a:picLocks noChangeAspect="1"/>
          </p:cNvPicPr>
          <p:nvPr/>
        </p:nvPicPr>
        <p:blipFill>
          <a:blip r:embed="rId5"/>
          <a:stretch>
            <a:fillRect/>
          </a:stretch>
        </p:blipFill>
        <p:spPr>
          <a:xfrm>
            <a:off x="4818888" y="2267712"/>
            <a:ext cx="384048" cy="384048"/>
          </a:xfrm>
          <a:prstGeom prst="rect">
            <a:avLst/>
          </a:prstGeom>
        </p:spPr>
      </p:pic>
      <p:sp>
        <p:nvSpPr>
          <p:cNvPr id="18" name="Text 13"/>
          <p:cNvSpPr/>
          <p:nvPr/>
        </p:nvSpPr>
        <p:spPr>
          <a:xfrm>
            <a:off x="4818888" y="2706624"/>
            <a:ext cx="1828800" cy="475488"/>
          </a:xfrm>
          <a:prstGeom prst="rect">
            <a:avLst/>
          </a:prstGeom>
          <a:noFill/>
          <a:ln/>
        </p:spPr>
        <p:txBody>
          <a:bodyPr wrap="square" lIns="0" tIns="0" rIns="0" bIns="0" rtlCol="0" anchor="ctr"/>
          <a:lstStyle/>
          <a:p>
            <a:pPr marL="0" indent="0">
              <a:lnSpc>
                <a:spcPct val="120000"/>
              </a:lnSpc>
              <a:buNone/>
            </a:pPr>
            <a:r>
              <a:rPr lang="en-US" sz="1000" b="1" dirty="0">
                <a:solidFill>
                  <a:srgbClr val="0D1B2A"/>
                </a:solidFill>
                <a:latin typeface="Calibri" pitchFamily="34" charset="0"/>
                <a:ea typeface="Calibri" pitchFamily="34" charset="-122"/>
                <a:cs typeface="Calibri" pitchFamily="34" charset="-120"/>
              </a:rPr>
              <a:t>High Marketing Expenses</a:t>
            </a:r>
            <a:endParaRPr lang="en-US" sz="1000" dirty="0"/>
          </a:p>
        </p:txBody>
      </p:sp>
      <p:sp>
        <p:nvSpPr>
          <p:cNvPr id="19" name="Text 14"/>
          <p:cNvSpPr/>
          <p:nvPr/>
        </p:nvSpPr>
        <p:spPr>
          <a:xfrm>
            <a:off x="4818888" y="3200400"/>
            <a:ext cx="1847088" cy="1371600"/>
          </a:xfrm>
          <a:prstGeom prst="rect">
            <a:avLst/>
          </a:prstGeom>
          <a:noFill/>
          <a:ln/>
        </p:spPr>
        <p:txBody>
          <a:bodyPr wrap="square" lIns="0" tIns="0" rIns="0" bIns="0" rtlCol="0" anchor="ctr"/>
          <a:lstStyle/>
          <a:p>
            <a:pPr marL="0" indent="0">
              <a:lnSpc>
                <a:spcPct val="135000"/>
              </a:lnSpc>
              <a:buNone/>
            </a:pPr>
            <a:r>
              <a:rPr lang="en-US" sz="900" dirty="0">
                <a:solidFill>
                  <a:srgbClr val="475569"/>
                </a:solidFill>
                <a:latin typeface="Calibri" pitchFamily="34" charset="0"/>
                <a:ea typeface="Calibri" pitchFamily="34" charset="-122"/>
                <a:cs typeface="Calibri" pitchFamily="34" charset="-120"/>
              </a:rPr>
              <a:t>Significant investments in marketing campaigns are not yielding expected returns on investment.</a:t>
            </a:r>
            <a:endParaRPr lang="en-US" sz="900" dirty="0"/>
          </a:p>
        </p:txBody>
      </p:sp>
      <p:sp>
        <p:nvSpPr>
          <p:cNvPr id="20" name="Shape 15"/>
          <p:cNvSpPr/>
          <p:nvPr/>
        </p:nvSpPr>
        <p:spPr>
          <a:xfrm>
            <a:off x="6903720" y="2148840"/>
            <a:ext cx="2057400" cy="260604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21" name="Shape 16"/>
          <p:cNvSpPr/>
          <p:nvPr/>
        </p:nvSpPr>
        <p:spPr>
          <a:xfrm>
            <a:off x="6903720" y="2148840"/>
            <a:ext cx="2057400" cy="64008"/>
          </a:xfrm>
          <a:prstGeom prst="rect">
            <a:avLst/>
          </a:prstGeom>
          <a:solidFill>
            <a:srgbClr val="00BFA5"/>
          </a:solidFill>
          <a:ln w="12700">
            <a:solidFill>
              <a:srgbClr val="00BFA5"/>
            </a:solidFill>
            <a:prstDash val="solid"/>
          </a:ln>
        </p:spPr>
      </p:sp>
      <p:pic>
        <p:nvPicPr>
          <p:cNvPr id="22" name="Image 3" descr="preencoded.png"/>
          <p:cNvPicPr>
            <a:picLocks noChangeAspect="1"/>
          </p:cNvPicPr>
          <p:nvPr/>
        </p:nvPicPr>
        <p:blipFill>
          <a:blip r:embed="rId6"/>
          <a:stretch>
            <a:fillRect/>
          </a:stretch>
        </p:blipFill>
        <p:spPr>
          <a:xfrm>
            <a:off x="7013448" y="2267712"/>
            <a:ext cx="384048" cy="384048"/>
          </a:xfrm>
          <a:prstGeom prst="rect">
            <a:avLst/>
          </a:prstGeom>
        </p:spPr>
      </p:pic>
      <p:sp>
        <p:nvSpPr>
          <p:cNvPr id="23" name="Text 17"/>
          <p:cNvSpPr/>
          <p:nvPr/>
        </p:nvSpPr>
        <p:spPr>
          <a:xfrm>
            <a:off x="7013448" y="2706624"/>
            <a:ext cx="1828800" cy="475488"/>
          </a:xfrm>
          <a:prstGeom prst="rect">
            <a:avLst/>
          </a:prstGeom>
          <a:noFill/>
          <a:ln/>
        </p:spPr>
        <p:txBody>
          <a:bodyPr wrap="square" lIns="0" tIns="0" rIns="0" bIns="0" rtlCol="0" anchor="ctr"/>
          <a:lstStyle/>
          <a:p>
            <a:pPr marL="0" indent="0">
              <a:lnSpc>
                <a:spcPct val="120000"/>
              </a:lnSpc>
              <a:buNone/>
            </a:pPr>
            <a:r>
              <a:rPr lang="en-US" sz="1000" b="1" dirty="0">
                <a:solidFill>
                  <a:srgbClr val="0D1B2A"/>
                </a:solidFill>
                <a:latin typeface="Calibri" pitchFamily="34" charset="0"/>
                <a:ea typeface="Calibri" pitchFamily="34" charset="-122"/>
                <a:cs typeface="Calibri" pitchFamily="34" charset="-120"/>
              </a:rPr>
              <a:t>Customer Feedback Analysis</a:t>
            </a:r>
            <a:endParaRPr lang="en-US" sz="1000" dirty="0"/>
          </a:p>
        </p:txBody>
      </p:sp>
      <p:sp>
        <p:nvSpPr>
          <p:cNvPr id="24" name="Text 18"/>
          <p:cNvSpPr/>
          <p:nvPr/>
        </p:nvSpPr>
        <p:spPr>
          <a:xfrm>
            <a:off x="7013448" y="3200400"/>
            <a:ext cx="1847088" cy="1371600"/>
          </a:xfrm>
          <a:prstGeom prst="rect">
            <a:avLst/>
          </a:prstGeom>
          <a:noFill/>
          <a:ln/>
        </p:spPr>
        <p:txBody>
          <a:bodyPr wrap="square" lIns="0" tIns="0" rIns="0" bIns="0" rtlCol="0" anchor="ctr"/>
          <a:lstStyle/>
          <a:p>
            <a:pPr marL="0" indent="0">
              <a:lnSpc>
                <a:spcPct val="135000"/>
              </a:lnSpc>
              <a:buNone/>
            </a:pPr>
            <a:r>
              <a:rPr lang="en-US" sz="900" dirty="0">
                <a:solidFill>
                  <a:srgbClr val="475569"/>
                </a:solidFill>
                <a:latin typeface="Calibri" pitchFamily="34" charset="0"/>
                <a:ea typeface="Calibri" pitchFamily="34" charset="-122"/>
                <a:cs typeface="Calibri" pitchFamily="34" charset="-120"/>
              </a:rPr>
              <a:t>Understanding customer opinions about products and services is crucial for improving engagement.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A2744"/>
          </a:solidFill>
          <a:ln w="12700">
            <a:solidFill>
              <a:srgbClr val="1A2744"/>
            </a:solidFill>
            <a:prstDash val="solid"/>
          </a:ln>
        </p:spPr>
      </p:sp>
      <p:sp>
        <p:nvSpPr>
          <p:cNvPr id="3" name="Text 1"/>
          <p:cNvSpPr/>
          <p:nvPr/>
        </p:nvSpPr>
        <p:spPr>
          <a:xfrm>
            <a:off x="457200" y="0"/>
            <a:ext cx="8229600" cy="1097280"/>
          </a:xfrm>
          <a:prstGeom prst="rect">
            <a:avLst/>
          </a:prstGeom>
          <a:noFill/>
          <a:ln/>
        </p:spPr>
        <p:txBody>
          <a:bodyPr wrap="square" lIns="0" tIns="0" rIns="0" bIns="0" rtlCol="0" anchor="ctr"/>
          <a:lstStyle/>
          <a:p>
            <a:pPr marL="0" indent="0">
              <a:buNone/>
            </a:pPr>
            <a:r>
              <a:rPr lang="en-US" sz="1800" b="1" kern="0" spc="100" dirty="0">
                <a:solidFill>
                  <a:srgbClr val="FFFFFF"/>
                </a:solidFill>
                <a:latin typeface="Calibri" pitchFamily="34" charset="0"/>
                <a:ea typeface="Calibri" pitchFamily="34" charset="-122"/>
                <a:cs typeface="Calibri" pitchFamily="34" charset="-120"/>
              </a:rPr>
              <a:t>CLIENT COMMUNICATION</a:t>
            </a:r>
            <a:endParaRPr lang="en-US" sz="1800" dirty="0"/>
          </a:p>
        </p:txBody>
      </p:sp>
      <p:sp>
        <p:nvSpPr>
          <p:cNvPr id="4" name="Shape 2"/>
          <p:cNvSpPr/>
          <p:nvPr/>
        </p:nvSpPr>
        <p:spPr>
          <a:xfrm>
            <a:off x="411480" y="1298448"/>
            <a:ext cx="438912" cy="438912"/>
          </a:xfrm>
          <a:prstGeom prst="ellipse">
            <a:avLst/>
          </a:prstGeom>
          <a:solidFill>
            <a:srgbClr val="DBEAFE"/>
          </a:solidFill>
          <a:ln w="12700">
            <a:solidFill>
              <a:srgbClr val="DBEAFE"/>
            </a:solidFill>
            <a:prstDash val="solid"/>
          </a:ln>
        </p:spPr>
      </p:sp>
      <p:pic>
        <p:nvPicPr>
          <p:cNvPr id="5" name="Image 0" descr="preencoded.png"/>
          <p:cNvPicPr>
            <a:picLocks noChangeAspect="1"/>
          </p:cNvPicPr>
          <p:nvPr/>
        </p:nvPicPr>
        <p:blipFill>
          <a:blip r:embed="rId3"/>
          <a:stretch>
            <a:fillRect/>
          </a:stretch>
        </p:blipFill>
        <p:spPr>
          <a:xfrm>
            <a:off x="493776" y="1380744"/>
            <a:ext cx="274320" cy="274320"/>
          </a:xfrm>
          <a:prstGeom prst="rect">
            <a:avLst/>
          </a:prstGeom>
        </p:spPr>
      </p:pic>
      <p:sp>
        <p:nvSpPr>
          <p:cNvPr id="6" name="Text 3"/>
          <p:cNvSpPr/>
          <p:nvPr/>
        </p:nvSpPr>
        <p:spPr>
          <a:xfrm>
            <a:off x="960120" y="1298448"/>
            <a:ext cx="5486400" cy="43891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Jane Doe  ·  Marketing Manager, ShopEasy</a:t>
            </a:r>
            <a:endParaRPr lang="en-US" sz="1050" dirty="0"/>
          </a:p>
        </p:txBody>
      </p:sp>
      <p:sp>
        <p:nvSpPr>
          <p:cNvPr id="7" name="Shape 4"/>
          <p:cNvSpPr/>
          <p:nvPr/>
        </p:nvSpPr>
        <p:spPr>
          <a:xfrm>
            <a:off x="411480" y="1874520"/>
            <a:ext cx="8321040" cy="320040"/>
          </a:xfrm>
          <a:prstGeom prst="rect">
            <a:avLst/>
          </a:prstGeom>
          <a:solidFill>
            <a:srgbClr val="DBEAFE"/>
          </a:solidFill>
          <a:ln w="12700">
            <a:solidFill>
              <a:srgbClr val="BFDBFE"/>
            </a:solidFill>
            <a:prstDash val="solid"/>
          </a:ln>
        </p:spPr>
      </p:sp>
      <p:sp>
        <p:nvSpPr>
          <p:cNvPr id="8" name="Text 5"/>
          <p:cNvSpPr/>
          <p:nvPr/>
        </p:nvSpPr>
        <p:spPr>
          <a:xfrm>
            <a:off x="502920" y="1874520"/>
            <a:ext cx="8229600" cy="320040"/>
          </a:xfrm>
          <a:prstGeom prst="rect">
            <a:avLst/>
          </a:prstGeom>
          <a:noFill/>
          <a:ln/>
        </p:spPr>
        <p:txBody>
          <a:bodyPr wrap="square" lIns="0" tIns="0" rIns="0" bIns="0"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Subject: Request for Data Analysis to Improve Marketing Strategy</a:t>
            </a:r>
            <a:endParaRPr lang="en-US" sz="1000" dirty="0"/>
          </a:p>
        </p:txBody>
      </p:sp>
      <p:sp>
        <p:nvSpPr>
          <p:cNvPr id="9" name="Shape 6"/>
          <p:cNvSpPr/>
          <p:nvPr/>
        </p:nvSpPr>
        <p:spPr>
          <a:xfrm>
            <a:off x="411480" y="2286000"/>
            <a:ext cx="8321040" cy="246888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0" name="Text 7"/>
          <p:cNvSpPr/>
          <p:nvPr/>
        </p:nvSpPr>
        <p:spPr>
          <a:xfrm>
            <a:off x="594360" y="2377440"/>
            <a:ext cx="7955280" cy="2286000"/>
          </a:xfrm>
          <a:prstGeom prst="rect">
            <a:avLst/>
          </a:prstGeom>
          <a:noFill/>
          <a:ln/>
        </p:spPr>
        <p:txBody>
          <a:bodyPr wrap="square" lIns="0" tIns="0" rIns="0" bIns="0" rtlCol="0" anchor="t"/>
          <a:lstStyle/>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Hi Data Analyst,</a:t>
            </a:r>
            <a:endParaRPr lang="en-US" sz="950" dirty="0"/>
          </a:p>
          <a:p>
            <a:pPr marL="0" indent="0">
              <a:lnSpc>
                <a:spcPct val="145000"/>
              </a:lnSpc>
              <a:buNone/>
            </a:pP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I hope this email finds you well. I'm the Marketing Manager at ShopEasy. We've been facing some challenges with our marketing campaigns lately, and I'm reaching out to request your expertise in data analysis to help us identify areas for improvement.</a:t>
            </a:r>
            <a:endParaRPr lang="en-US" sz="950" dirty="0"/>
          </a:p>
          <a:p>
            <a:pPr marL="0" indent="0">
              <a:lnSpc>
                <a:spcPct val="145000"/>
              </a:lnSpc>
              <a:buNone/>
            </a:pP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endParaRPr lang="en-US" sz="950" dirty="0"/>
          </a:p>
          <a:p>
            <a:pPr marL="0" indent="0">
              <a:lnSpc>
                <a:spcPct val="145000"/>
              </a:lnSpc>
              <a:buNone/>
            </a:pP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We have data from various sources, including customer reviews, social media comments, and campaign performance metrics. Your insights will be invaluable in helping us turn this situation around.</a:t>
            </a:r>
            <a:endParaRPr lang="en-US" sz="950" dirty="0"/>
          </a:p>
          <a:p>
            <a:pPr marL="0" indent="0">
              <a:lnSpc>
                <a:spcPct val="145000"/>
              </a:lnSpc>
              <a:buNone/>
            </a:pP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Looking forward to your response.</a:t>
            </a:r>
            <a:endParaRPr lang="en-US" sz="950" dirty="0"/>
          </a:p>
          <a:p>
            <a:pPr marL="0" indent="0">
              <a:lnSpc>
                <a:spcPct val="145000"/>
              </a:lnSpc>
              <a:buNone/>
            </a:pP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Best regards,</a:t>
            </a: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Jane Doe — Marketing Manager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A2744"/>
          </a:solidFill>
          <a:ln w="12700">
            <a:solidFill>
              <a:srgbClr val="1A2744"/>
            </a:solidFill>
            <a:prstDash val="solid"/>
          </a:ln>
        </p:spPr>
      </p:sp>
      <p:sp>
        <p:nvSpPr>
          <p:cNvPr id="3" name="Text 1"/>
          <p:cNvSpPr/>
          <p:nvPr/>
        </p:nvSpPr>
        <p:spPr>
          <a:xfrm>
            <a:off x="457200" y="0"/>
            <a:ext cx="8229600" cy="1097280"/>
          </a:xfrm>
          <a:prstGeom prst="rect">
            <a:avLst/>
          </a:prstGeom>
          <a:noFill/>
          <a:ln/>
        </p:spPr>
        <p:txBody>
          <a:bodyPr wrap="square" lIns="0" tIns="0" rIns="0" bIns="0" rtlCol="0" anchor="ctr"/>
          <a:lstStyle/>
          <a:p>
            <a:pPr marL="0" indent="0">
              <a:buNone/>
            </a:pPr>
            <a:r>
              <a:rPr lang="en-US" sz="1800" b="1" kern="0" spc="100" dirty="0">
                <a:solidFill>
                  <a:srgbClr val="FFFFFF"/>
                </a:solidFill>
                <a:latin typeface="Calibri" pitchFamily="34" charset="0"/>
                <a:ea typeface="Calibri" pitchFamily="34" charset="-122"/>
                <a:cs typeface="Calibri" pitchFamily="34" charset="-120"/>
              </a:rPr>
              <a:t>CLIENT COMMUNICATION</a:t>
            </a:r>
            <a:endParaRPr lang="en-US" sz="1800" dirty="0"/>
          </a:p>
        </p:txBody>
      </p:sp>
      <p:sp>
        <p:nvSpPr>
          <p:cNvPr id="4" name="Shape 2"/>
          <p:cNvSpPr/>
          <p:nvPr/>
        </p:nvSpPr>
        <p:spPr>
          <a:xfrm>
            <a:off x="411480" y="1298448"/>
            <a:ext cx="438912" cy="438912"/>
          </a:xfrm>
          <a:prstGeom prst="ellipse">
            <a:avLst/>
          </a:prstGeom>
          <a:solidFill>
            <a:srgbClr val="CCFBF1"/>
          </a:solidFill>
          <a:ln w="12700">
            <a:solidFill>
              <a:srgbClr val="CCFBF1"/>
            </a:solidFill>
            <a:prstDash val="solid"/>
          </a:ln>
        </p:spPr>
      </p:sp>
      <p:pic>
        <p:nvPicPr>
          <p:cNvPr id="5" name="Image 0" descr="preencoded.png"/>
          <p:cNvPicPr>
            <a:picLocks noChangeAspect="1"/>
          </p:cNvPicPr>
          <p:nvPr/>
        </p:nvPicPr>
        <p:blipFill>
          <a:blip r:embed="rId3"/>
          <a:stretch>
            <a:fillRect/>
          </a:stretch>
        </p:blipFill>
        <p:spPr>
          <a:xfrm>
            <a:off x="493776" y="1380744"/>
            <a:ext cx="274320" cy="274320"/>
          </a:xfrm>
          <a:prstGeom prst="rect">
            <a:avLst/>
          </a:prstGeom>
        </p:spPr>
      </p:pic>
      <p:sp>
        <p:nvSpPr>
          <p:cNvPr id="6" name="Text 3"/>
          <p:cNvSpPr/>
          <p:nvPr/>
        </p:nvSpPr>
        <p:spPr>
          <a:xfrm>
            <a:off x="960120" y="1298448"/>
            <a:ext cx="5943600" cy="43891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John Smith  ·  Customer Experience Manager, ShopEasy</a:t>
            </a:r>
            <a:endParaRPr lang="en-US" sz="1050" dirty="0"/>
          </a:p>
        </p:txBody>
      </p:sp>
      <p:sp>
        <p:nvSpPr>
          <p:cNvPr id="7" name="Shape 4"/>
          <p:cNvSpPr/>
          <p:nvPr/>
        </p:nvSpPr>
        <p:spPr>
          <a:xfrm>
            <a:off x="411480" y="1874520"/>
            <a:ext cx="8321040" cy="320040"/>
          </a:xfrm>
          <a:prstGeom prst="rect">
            <a:avLst/>
          </a:prstGeom>
          <a:solidFill>
            <a:srgbClr val="CCFBF1"/>
          </a:solidFill>
          <a:ln w="12700">
            <a:solidFill>
              <a:srgbClr val="99F6E4"/>
            </a:solidFill>
            <a:prstDash val="solid"/>
          </a:ln>
        </p:spPr>
      </p:sp>
      <p:sp>
        <p:nvSpPr>
          <p:cNvPr id="8" name="Text 5"/>
          <p:cNvSpPr/>
          <p:nvPr/>
        </p:nvSpPr>
        <p:spPr>
          <a:xfrm>
            <a:off x="502920" y="1874520"/>
            <a:ext cx="8229600" cy="320040"/>
          </a:xfrm>
          <a:prstGeom prst="rect">
            <a:avLst/>
          </a:prstGeom>
          <a:noFill/>
          <a:ln/>
        </p:spPr>
        <p:txBody>
          <a:bodyPr wrap="square" lIns="0" tIns="0" rIns="0" bIns="0" rtlCol="0" anchor="ctr"/>
          <a:lstStyle/>
          <a:p>
            <a:pPr marL="0" indent="0">
              <a:buNone/>
            </a:pPr>
            <a:r>
              <a:rPr lang="en-US" sz="1000" b="1" dirty="0">
                <a:solidFill>
                  <a:srgbClr val="00796B"/>
                </a:solidFill>
                <a:latin typeface="Calibri" pitchFamily="34" charset="0"/>
                <a:ea typeface="Calibri" pitchFamily="34" charset="-122"/>
                <a:cs typeface="Calibri" pitchFamily="34" charset="-120"/>
              </a:rPr>
              <a:t>Subject: Request for Data Analysis to Improve Marketing Strategy</a:t>
            </a:r>
            <a:endParaRPr lang="en-US" sz="1000" dirty="0"/>
          </a:p>
        </p:txBody>
      </p:sp>
      <p:sp>
        <p:nvSpPr>
          <p:cNvPr id="9" name="Shape 6"/>
          <p:cNvSpPr/>
          <p:nvPr/>
        </p:nvSpPr>
        <p:spPr>
          <a:xfrm>
            <a:off x="411480" y="2286000"/>
            <a:ext cx="8321040" cy="246888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0" name="Text 7"/>
          <p:cNvSpPr/>
          <p:nvPr/>
        </p:nvSpPr>
        <p:spPr>
          <a:xfrm>
            <a:off x="594360" y="2377440"/>
            <a:ext cx="7955280" cy="2286000"/>
          </a:xfrm>
          <a:prstGeom prst="rect">
            <a:avLst/>
          </a:prstGeom>
          <a:noFill/>
          <a:ln/>
        </p:spPr>
        <p:txBody>
          <a:bodyPr wrap="square" lIns="0" tIns="0" rIns="0" bIns="0" rtlCol="0" anchor="t"/>
          <a:lstStyle/>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Hi Data Analyst,</a:t>
            </a:r>
            <a:endParaRPr lang="en-US" sz="950" dirty="0"/>
          </a:p>
          <a:p>
            <a:pPr marL="0" indent="0">
              <a:lnSpc>
                <a:spcPct val="145000"/>
              </a:lnSpc>
              <a:buNone/>
            </a:pP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I'm the Customer Experience Manager at ShopEasy, and I'm writing to seek your help with analyzing our customer feedback. Over the past few months, we've noticed a drop in customer engagement and satisfaction, which is impacting our overall conversion rates.</a:t>
            </a:r>
            <a:endParaRPr lang="en-US" sz="950" dirty="0"/>
          </a:p>
          <a:p>
            <a:pPr marL="0" indent="0">
              <a:lnSpc>
                <a:spcPct val="145000"/>
              </a:lnSpc>
              <a:buNone/>
            </a:pP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We've gathered a significant amount of customer reviews and social media comments that highlight various issues and sentiments. We believe that by thoroughly analyzing this feedback, we can gain a better understanding of our customers' needs and pain points.</a:t>
            </a:r>
            <a:endParaRPr lang="en-US" sz="950" dirty="0"/>
          </a:p>
          <a:p>
            <a:pPr marL="0" indent="0">
              <a:lnSpc>
                <a:spcPct val="145000"/>
              </a:lnSpc>
              <a:buNone/>
            </a:pP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Your expertise in data analysis will be crucial in helping us decode this feedback and provide actionable insights. We hope this will guide us in improving our customer experience and ultimately boost our engagement and conversion rates.</a:t>
            </a:r>
            <a:endParaRPr lang="en-US" sz="950" dirty="0"/>
          </a:p>
          <a:p>
            <a:pPr marL="0" indent="0">
              <a:lnSpc>
                <a:spcPct val="145000"/>
              </a:lnSpc>
              <a:buNone/>
            </a:pP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Thank you for your assistance.</a:t>
            </a:r>
            <a:endParaRPr lang="en-US" sz="950" dirty="0"/>
          </a:p>
          <a:p>
            <a:pPr marL="0" indent="0">
              <a:lnSpc>
                <a:spcPct val="145000"/>
              </a:lnSpc>
              <a:buNone/>
            </a:pP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Best regards,</a:t>
            </a:r>
            <a:endParaRPr lang="en-US" sz="950" dirty="0"/>
          </a:p>
          <a:p>
            <a:pPr marL="0" indent="0">
              <a:lnSpc>
                <a:spcPct val="145000"/>
              </a:lnSpc>
              <a:buNone/>
            </a:pPr>
            <a:r>
              <a:rPr lang="en-US" sz="950" dirty="0">
                <a:solidFill>
                  <a:srgbClr val="334155"/>
                </a:solidFill>
                <a:latin typeface="Calibri" pitchFamily="34" charset="0"/>
                <a:ea typeface="Calibri" pitchFamily="34" charset="-122"/>
                <a:cs typeface="Calibri" pitchFamily="34" charset="-120"/>
              </a:rPr>
              <a:t>John Smith — Customer Experience Manager, ShopEasy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3200400"/>
            <a:ext cx="4114800" cy="4114800"/>
          </a:xfrm>
          <a:prstGeom prst="ellipse">
            <a:avLst/>
          </a:prstGeom>
          <a:solidFill>
            <a:srgbClr val="1565C0">
              <a:alpha val="12000"/>
            </a:srgbClr>
          </a:solidFill>
          <a:ln w="12700">
            <a:solidFill>
              <a:srgbClr val="1565C0">
                <a:alpha val="12000"/>
              </a:srgbClr>
            </a:solidFill>
            <a:prstDash val="solid"/>
          </a:ln>
        </p:spPr>
      </p:sp>
      <p:sp>
        <p:nvSpPr>
          <p:cNvPr id="3" name="Text 1"/>
          <p:cNvSpPr/>
          <p:nvPr/>
        </p:nvSpPr>
        <p:spPr>
          <a:xfrm>
            <a:off x="457200" y="228600"/>
            <a:ext cx="8229600" cy="4572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PERFORMANCE</a:t>
            </a:r>
            <a:endParaRPr lang="en-US" sz="2800" dirty="0"/>
          </a:p>
        </p:txBody>
      </p:sp>
      <p:sp>
        <p:nvSpPr>
          <p:cNvPr id="4" name="Text 2"/>
          <p:cNvSpPr/>
          <p:nvPr/>
        </p:nvSpPr>
        <p:spPr>
          <a:xfrm>
            <a:off x="457200" y="658368"/>
            <a:ext cx="4572000" cy="457200"/>
          </a:xfrm>
          <a:prstGeom prst="rect">
            <a:avLst/>
          </a:prstGeom>
          <a:noFill/>
          <a:ln/>
        </p:spPr>
        <p:txBody>
          <a:bodyPr wrap="square" lIns="0" tIns="0" rIns="0" bIns="0" rtlCol="0" anchor="ctr"/>
          <a:lstStyle/>
          <a:p>
            <a:pPr marL="0" indent="0">
              <a:buNone/>
            </a:pPr>
            <a:r>
              <a:rPr lang="en-US" sz="2800" b="1" dirty="0">
                <a:solidFill>
                  <a:srgbClr val="42A5F5"/>
                </a:solidFill>
                <a:latin typeface="Calibri" pitchFamily="34" charset="0"/>
                <a:ea typeface="Calibri" pitchFamily="34" charset="-122"/>
                <a:cs typeface="Calibri" pitchFamily="34" charset="-120"/>
              </a:rPr>
              <a:t>INDICATORS</a:t>
            </a:r>
            <a:endParaRPr lang="en-US" sz="2800" dirty="0"/>
          </a:p>
        </p:txBody>
      </p:sp>
      <p:sp>
        <p:nvSpPr>
          <p:cNvPr id="5" name="Shape 3"/>
          <p:cNvSpPr/>
          <p:nvPr/>
        </p:nvSpPr>
        <p:spPr>
          <a:xfrm>
            <a:off x="457200" y="1143000"/>
            <a:ext cx="1280160" cy="45720"/>
          </a:xfrm>
          <a:prstGeom prst="rect">
            <a:avLst/>
          </a:prstGeom>
          <a:solidFill>
            <a:srgbClr val="00BFA5"/>
          </a:solidFill>
          <a:ln w="12700">
            <a:solidFill>
              <a:srgbClr val="00BFA5"/>
            </a:solidFill>
            <a:prstDash val="solid"/>
          </a:ln>
        </p:spPr>
      </p:sp>
      <p:sp>
        <p:nvSpPr>
          <p:cNvPr id="6" name="Shape 4"/>
          <p:cNvSpPr/>
          <p:nvPr/>
        </p:nvSpPr>
        <p:spPr>
          <a:xfrm>
            <a:off x="411480" y="1371600"/>
            <a:ext cx="475488" cy="475488"/>
          </a:xfrm>
          <a:prstGeom prst="ellipse">
            <a:avLst/>
          </a:prstGeom>
          <a:solidFill>
            <a:srgbClr val="42A5F5">
              <a:alpha val="20000"/>
            </a:srgbClr>
          </a:solidFill>
          <a:ln w="12700">
            <a:solidFill>
              <a:srgbClr val="42A5F5"/>
            </a:solidFill>
            <a:prstDash val="solid"/>
          </a:ln>
        </p:spPr>
      </p:sp>
      <p:pic>
        <p:nvPicPr>
          <p:cNvPr id="7" name="Image 0" descr="preencoded.png"/>
          <p:cNvPicPr>
            <a:picLocks noChangeAspect="1"/>
          </p:cNvPicPr>
          <p:nvPr/>
        </p:nvPicPr>
        <p:blipFill>
          <a:blip r:embed="rId3"/>
          <a:stretch>
            <a:fillRect/>
          </a:stretch>
        </p:blipFill>
        <p:spPr>
          <a:xfrm>
            <a:off x="493776" y="1453896"/>
            <a:ext cx="310896" cy="310896"/>
          </a:xfrm>
          <a:prstGeom prst="rect">
            <a:avLst/>
          </a:prstGeom>
        </p:spPr>
      </p:pic>
      <p:sp>
        <p:nvSpPr>
          <p:cNvPr id="8" name="Text 5"/>
          <p:cNvSpPr/>
          <p:nvPr/>
        </p:nvSpPr>
        <p:spPr>
          <a:xfrm>
            <a:off x="1051560" y="1371600"/>
            <a:ext cx="347472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Conversion Rate</a:t>
            </a:r>
            <a:endParaRPr lang="en-US" sz="1250" dirty="0"/>
          </a:p>
        </p:txBody>
      </p:sp>
      <p:sp>
        <p:nvSpPr>
          <p:cNvPr id="9" name="Text 6"/>
          <p:cNvSpPr/>
          <p:nvPr/>
        </p:nvSpPr>
        <p:spPr>
          <a:xfrm>
            <a:off x="1051560" y="1618488"/>
            <a:ext cx="5029200" cy="256032"/>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Percentage of website visitors who make a purchase</a:t>
            </a:r>
            <a:endParaRPr lang="en-US" sz="1000" dirty="0"/>
          </a:p>
        </p:txBody>
      </p:sp>
      <p:sp>
        <p:nvSpPr>
          <p:cNvPr id="10" name="Shape 7"/>
          <p:cNvSpPr/>
          <p:nvPr/>
        </p:nvSpPr>
        <p:spPr>
          <a:xfrm>
            <a:off x="411480" y="2194560"/>
            <a:ext cx="475488" cy="475488"/>
          </a:xfrm>
          <a:prstGeom prst="ellipse">
            <a:avLst/>
          </a:prstGeom>
          <a:solidFill>
            <a:srgbClr val="00BFA5">
              <a:alpha val="20000"/>
            </a:srgbClr>
          </a:solidFill>
          <a:ln w="12700">
            <a:solidFill>
              <a:srgbClr val="00BFA5"/>
            </a:solidFill>
            <a:prstDash val="solid"/>
          </a:ln>
        </p:spPr>
      </p:sp>
      <p:pic>
        <p:nvPicPr>
          <p:cNvPr id="11" name="Image 1" descr="preencoded.png"/>
          <p:cNvPicPr>
            <a:picLocks noChangeAspect="1"/>
          </p:cNvPicPr>
          <p:nvPr/>
        </p:nvPicPr>
        <p:blipFill>
          <a:blip r:embed="rId4"/>
          <a:stretch>
            <a:fillRect/>
          </a:stretch>
        </p:blipFill>
        <p:spPr>
          <a:xfrm>
            <a:off x="493776" y="2276856"/>
            <a:ext cx="310896" cy="310896"/>
          </a:xfrm>
          <a:prstGeom prst="rect">
            <a:avLst/>
          </a:prstGeom>
        </p:spPr>
      </p:pic>
      <p:sp>
        <p:nvSpPr>
          <p:cNvPr id="12" name="Text 8"/>
          <p:cNvSpPr/>
          <p:nvPr/>
        </p:nvSpPr>
        <p:spPr>
          <a:xfrm>
            <a:off x="1051560" y="2194560"/>
            <a:ext cx="347472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Customer Engagement Rate</a:t>
            </a:r>
            <a:endParaRPr lang="en-US" sz="1250" dirty="0"/>
          </a:p>
        </p:txBody>
      </p:sp>
      <p:sp>
        <p:nvSpPr>
          <p:cNvPr id="13" name="Text 9"/>
          <p:cNvSpPr/>
          <p:nvPr/>
        </p:nvSpPr>
        <p:spPr>
          <a:xfrm>
            <a:off x="1051560" y="2441448"/>
            <a:ext cx="5029200" cy="256032"/>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Level of interaction with marketing content (clicks, likes, comments)</a:t>
            </a:r>
            <a:endParaRPr lang="en-US" sz="1000" dirty="0"/>
          </a:p>
        </p:txBody>
      </p:sp>
      <p:sp>
        <p:nvSpPr>
          <p:cNvPr id="14" name="Shape 10"/>
          <p:cNvSpPr/>
          <p:nvPr/>
        </p:nvSpPr>
        <p:spPr>
          <a:xfrm>
            <a:off x="411480" y="3017520"/>
            <a:ext cx="475488" cy="475488"/>
          </a:xfrm>
          <a:prstGeom prst="ellipse">
            <a:avLst/>
          </a:prstGeom>
          <a:solidFill>
            <a:srgbClr val="FF8F00">
              <a:alpha val="20000"/>
            </a:srgbClr>
          </a:solidFill>
          <a:ln w="12700">
            <a:solidFill>
              <a:srgbClr val="FF8F00"/>
            </a:solidFill>
            <a:prstDash val="solid"/>
          </a:ln>
        </p:spPr>
      </p:sp>
      <p:pic>
        <p:nvPicPr>
          <p:cNvPr id="15" name="Image 2" descr="preencoded.png"/>
          <p:cNvPicPr>
            <a:picLocks noChangeAspect="1"/>
          </p:cNvPicPr>
          <p:nvPr/>
        </p:nvPicPr>
        <p:blipFill>
          <a:blip r:embed="rId5"/>
          <a:stretch>
            <a:fillRect/>
          </a:stretch>
        </p:blipFill>
        <p:spPr>
          <a:xfrm>
            <a:off x="493776" y="3099816"/>
            <a:ext cx="310896" cy="310896"/>
          </a:xfrm>
          <a:prstGeom prst="rect">
            <a:avLst/>
          </a:prstGeom>
        </p:spPr>
      </p:pic>
      <p:sp>
        <p:nvSpPr>
          <p:cNvPr id="16" name="Text 11"/>
          <p:cNvSpPr/>
          <p:nvPr/>
        </p:nvSpPr>
        <p:spPr>
          <a:xfrm>
            <a:off x="1051560" y="3017520"/>
            <a:ext cx="347472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Average Order Value (AOV)</a:t>
            </a:r>
            <a:endParaRPr lang="en-US" sz="1250" dirty="0"/>
          </a:p>
        </p:txBody>
      </p:sp>
      <p:sp>
        <p:nvSpPr>
          <p:cNvPr id="17" name="Text 12"/>
          <p:cNvSpPr/>
          <p:nvPr/>
        </p:nvSpPr>
        <p:spPr>
          <a:xfrm>
            <a:off x="1051560" y="3264408"/>
            <a:ext cx="5029200" cy="256032"/>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Average amount spent by a customer per transaction</a:t>
            </a:r>
            <a:endParaRPr lang="en-US" sz="1000" dirty="0"/>
          </a:p>
        </p:txBody>
      </p:sp>
      <p:sp>
        <p:nvSpPr>
          <p:cNvPr id="18" name="Shape 13"/>
          <p:cNvSpPr/>
          <p:nvPr/>
        </p:nvSpPr>
        <p:spPr>
          <a:xfrm>
            <a:off x="411480" y="3840480"/>
            <a:ext cx="475488" cy="475488"/>
          </a:xfrm>
          <a:prstGeom prst="ellipse">
            <a:avLst/>
          </a:prstGeom>
          <a:solidFill>
            <a:srgbClr val="F48FB1">
              <a:alpha val="20000"/>
            </a:srgbClr>
          </a:solidFill>
          <a:ln w="12700">
            <a:solidFill>
              <a:srgbClr val="F48FB1"/>
            </a:solidFill>
            <a:prstDash val="solid"/>
          </a:ln>
        </p:spPr>
      </p:sp>
      <p:pic>
        <p:nvPicPr>
          <p:cNvPr id="19" name="Image 3" descr="preencoded.png"/>
          <p:cNvPicPr>
            <a:picLocks noChangeAspect="1"/>
          </p:cNvPicPr>
          <p:nvPr/>
        </p:nvPicPr>
        <p:blipFill>
          <a:blip r:embed="rId6"/>
          <a:stretch>
            <a:fillRect/>
          </a:stretch>
        </p:blipFill>
        <p:spPr>
          <a:xfrm>
            <a:off x="493776" y="3922776"/>
            <a:ext cx="310896" cy="310896"/>
          </a:xfrm>
          <a:prstGeom prst="rect">
            <a:avLst/>
          </a:prstGeom>
        </p:spPr>
      </p:pic>
      <p:sp>
        <p:nvSpPr>
          <p:cNvPr id="20" name="Text 14"/>
          <p:cNvSpPr/>
          <p:nvPr/>
        </p:nvSpPr>
        <p:spPr>
          <a:xfrm>
            <a:off x="1051560" y="3840480"/>
            <a:ext cx="3474720" cy="2560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Customer Feedback Score</a:t>
            </a:r>
            <a:endParaRPr lang="en-US" sz="1250" dirty="0"/>
          </a:p>
        </p:txBody>
      </p:sp>
      <p:sp>
        <p:nvSpPr>
          <p:cNvPr id="21" name="Text 15"/>
          <p:cNvSpPr/>
          <p:nvPr/>
        </p:nvSpPr>
        <p:spPr>
          <a:xfrm>
            <a:off x="1051560" y="4087368"/>
            <a:ext cx="5029200" cy="256032"/>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Average rating derived from customer reviews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D1B2A"/>
          </a:solidFill>
          <a:ln w="12700">
            <a:solidFill>
              <a:srgbClr val="0D1B2A"/>
            </a:solidFill>
            <a:prstDash val="solid"/>
          </a:ln>
        </p:spPr>
      </p:sp>
      <p:sp>
        <p:nvSpPr>
          <p:cNvPr id="3" name="Text 1"/>
          <p:cNvSpPr/>
          <p:nvPr/>
        </p:nvSpPr>
        <p:spPr>
          <a:xfrm>
            <a:off x="457200" y="0"/>
            <a:ext cx="8229600" cy="1097280"/>
          </a:xfrm>
          <a:prstGeom prst="rect">
            <a:avLst/>
          </a:prstGeom>
          <a:noFill/>
          <a:ln/>
        </p:spPr>
        <p:txBody>
          <a:bodyPr wrap="square" lIns="0" tIns="0" rIns="0" bIns="0" rtlCol="0" anchor="ctr"/>
          <a:lstStyle/>
          <a:p>
            <a:pPr marL="0" indent="0">
              <a:buNone/>
            </a:pPr>
            <a:r>
              <a:rPr lang="en-US" sz="1800" b="1" kern="0" spc="100" dirty="0">
                <a:solidFill>
                  <a:srgbClr val="FFFFFF"/>
                </a:solidFill>
                <a:latin typeface="Calibri" pitchFamily="34" charset="0"/>
                <a:ea typeface="Calibri" pitchFamily="34" charset="-122"/>
                <a:cs typeface="Calibri" pitchFamily="34" charset="-120"/>
              </a:rPr>
              <a:t>ANALYSIS GOALS</a:t>
            </a:r>
            <a:endParaRPr lang="en-US" sz="1800" dirty="0"/>
          </a:p>
        </p:txBody>
      </p:sp>
      <p:sp>
        <p:nvSpPr>
          <p:cNvPr id="4" name="Shape 2"/>
          <p:cNvSpPr/>
          <p:nvPr/>
        </p:nvSpPr>
        <p:spPr>
          <a:xfrm>
            <a:off x="320040" y="1234440"/>
            <a:ext cx="2743200" cy="356616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5" name="Shape 3"/>
          <p:cNvSpPr/>
          <p:nvPr/>
        </p:nvSpPr>
        <p:spPr>
          <a:xfrm>
            <a:off x="320040" y="1234440"/>
            <a:ext cx="2743200" cy="73152"/>
          </a:xfrm>
          <a:prstGeom prst="rect">
            <a:avLst/>
          </a:prstGeom>
          <a:solidFill>
            <a:srgbClr val="1565C0"/>
          </a:solidFill>
          <a:ln w="12700">
            <a:solidFill>
              <a:srgbClr val="1565C0"/>
            </a:solidFill>
            <a:prstDash val="solid"/>
          </a:ln>
        </p:spPr>
      </p:sp>
      <p:sp>
        <p:nvSpPr>
          <p:cNvPr id="6" name="Shape 4"/>
          <p:cNvSpPr/>
          <p:nvPr/>
        </p:nvSpPr>
        <p:spPr>
          <a:xfrm>
            <a:off x="457200" y="1389888"/>
            <a:ext cx="502920" cy="502920"/>
          </a:xfrm>
          <a:prstGeom prst="ellipse">
            <a:avLst/>
          </a:prstGeom>
          <a:solidFill>
            <a:srgbClr val="1565C0">
              <a:alpha val="18000"/>
            </a:srgbClr>
          </a:solidFill>
          <a:ln w="12700">
            <a:solidFill>
              <a:srgbClr val="1565C0">
                <a:alpha val="18000"/>
              </a:srgbClr>
            </a:solidFill>
            <a:prstDash val="solid"/>
          </a:ln>
        </p:spPr>
      </p:sp>
      <p:pic>
        <p:nvPicPr>
          <p:cNvPr id="7" name="Image 0" descr="preencoded.png"/>
          <p:cNvPicPr>
            <a:picLocks noChangeAspect="1"/>
          </p:cNvPicPr>
          <p:nvPr/>
        </p:nvPicPr>
        <p:blipFill>
          <a:blip r:embed="rId3"/>
          <a:stretch>
            <a:fillRect/>
          </a:stretch>
        </p:blipFill>
        <p:spPr>
          <a:xfrm>
            <a:off x="539496" y="1472184"/>
            <a:ext cx="338328" cy="338328"/>
          </a:xfrm>
          <a:prstGeom prst="rect">
            <a:avLst/>
          </a:prstGeom>
        </p:spPr>
      </p:pic>
      <p:sp>
        <p:nvSpPr>
          <p:cNvPr id="8" name="Text 5"/>
          <p:cNvSpPr/>
          <p:nvPr/>
        </p:nvSpPr>
        <p:spPr>
          <a:xfrm>
            <a:off x="457200" y="1993392"/>
            <a:ext cx="2487168" cy="502920"/>
          </a:xfrm>
          <a:prstGeom prst="rect">
            <a:avLst/>
          </a:prstGeom>
          <a:noFill/>
          <a:ln/>
        </p:spPr>
        <p:txBody>
          <a:bodyPr wrap="square" lIns="0" tIns="0" rIns="0" bIns="0" rtlCol="0" anchor="ctr"/>
          <a:lstStyle/>
          <a:p>
            <a:pPr marL="0" indent="0">
              <a:lnSpc>
                <a:spcPct val="120000"/>
              </a:lnSpc>
              <a:buNone/>
            </a:pPr>
            <a:r>
              <a:rPr lang="en-US" sz="1100" b="1" dirty="0">
                <a:solidFill>
                  <a:srgbClr val="0D1B2A"/>
                </a:solidFill>
                <a:latin typeface="Calibri" pitchFamily="34" charset="0"/>
                <a:ea typeface="Calibri" pitchFamily="34" charset="-122"/>
                <a:cs typeface="Calibri" pitchFamily="34" charset="-120"/>
              </a:rPr>
              <a:t>Increase Conversion Rates</a:t>
            </a:r>
            <a:endParaRPr lang="en-US" sz="1100" dirty="0"/>
          </a:p>
        </p:txBody>
      </p:sp>
      <p:sp>
        <p:nvSpPr>
          <p:cNvPr id="9" name="Shape 6"/>
          <p:cNvSpPr/>
          <p:nvPr/>
        </p:nvSpPr>
        <p:spPr>
          <a:xfrm>
            <a:off x="457200" y="2578608"/>
            <a:ext cx="548640" cy="201168"/>
          </a:xfrm>
          <a:prstGeom prst="rect">
            <a:avLst/>
          </a:prstGeom>
          <a:solidFill>
            <a:srgbClr val="1565C0">
              <a:alpha val="22000"/>
            </a:srgbClr>
          </a:solidFill>
          <a:ln w="12700">
            <a:solidFill>
              <a:srgbClr val="1565C0">
                <a:alpha val="22000"/>
              </a:srgbClr>
            </a:solidFill>
            <a:prstDash val="solid"/>
          </a:ln>
        </p:spPr>
      </p:sp>
      <p:sp>
        <p:nvSpPr>
          <p:cNvPr id="10" name="Text 7"/>
          <p:cNvSpPr/>
          <p:nvPr/>
        </p:nvSpPr>
        <p:spPr>
          <a:xfrm>
            <a:off x="484632" y="2578608"/>
            <a:ext cx="530352" cy="201168"/>
          </a:xfrm>
          <a:prstGeom prst="rect">
            <a:avLst/>
          </a:prstGeom>
          <a:noFill/>
          <a:ln/>
        </p:spPr>
        <p:txBody>
          <a:bodyPr wrap="square" lIns="0" tIns="0" rIns="0" bIns="0" rtlCol="0" anchor="ctr"/>
          <a:lstStyle/>
          <a:p>
            <a:pPr marL="0" indent="0">
              <a:buNone/>
            </a:pPr>
            <a:r>
              <a:rPr lang="en-US" sz="750" b="1" kern="0" spc="100" dirty="0">
                <a:solidFill>
                  <a:srgbClr val="1565C0"/>
                </a:solidFill>
                <a:latin typeface="Calibri" pitchFamily="34" charset="0"/>
                <a:ea typeface="Calibri" pitchFamily="34" charset="-122"/>
                <a:cs typeface="Calibri" pitchFamily="34" charset="-120"/>
              </a:rPr>
              <a:t>GOAL</a:t>
            </a:r>
            <a:endParaRPr lang="en-US" sz="750" dirty="0"/>
          </a:p>
        </p:txBody>
      </p:sp>
      <p:sp>
        <p:nvSpPr>
          <p:cNvPr id="11" name="Text 8"/>
          <p:cNvSpPr/>
          <p:nvPr/>
        </p:nvSpPr>
        <p:spPr>
          <a:xfrm>
            <a:off x="457200" y="2816352"/>
            <a:ext cx="2487168" cy="749808"/>
          </a:xfrm>
          <a:prstGeom prst="rect">
            <a:avLst/>
          </a:prstGeom>
          <a:noFill/>
          <a:ln/>
        </p:spPr>
        <p:txBody>
          <a:bodyPr wrap="square" lIns="0" tIns="0" rIns="0" bIns="0" rtlCol="0" anchor="ctr"/>
          <a:lstStyle/>
          <a:p>
            <a:pPr marL="0" indent="0">
              <a:lnSpc>
                <a:spcPct val="135000"/>
              </a:lnSpc>
              <a:buNone/>
            </a:pPr>
            <a:r>
              <a:rPr lang="en-US" sz="900" dirty="0">
                <a:solidFill>
                  <a:srgbClr val="475569"/>
                </a:solidFill>
                <a:latin typeface="Calibri" pitchFamily="34" charset="0"/>
                <a:ea typeface="Calibri" pitchFamily="34" charset="-122"/>
                <a:cs typeface="Calibri" pitchFamily="34" charset="-120"/>
              </a:rPr>
              <a:t>Identify factors impacting the conversion rate and provide recommendations to improve it.</a:t>
            </a:r>
            <a:endParaRPr lang="en-US" sz="900" dirty="0"/>
          </a:p>
        </p:txBody>
      </p:sp>
      <p:sp>
        <p:nvSpPr>
          <p:cNvPr id="12" name="Shape 9"/>
          <p:cNvSpPr/>
          <p:nvPr/>
        </p:nvSpPr>
        <p:spPr>
          <a:xfrm>
            <a:off x="457200" y="3611880"/>
            <a:ext cx="713232" cy="201168"/>
          </a:xfrm>
          <a:prstGeom prst="rect">
            <a:avLst/>
          </a:prstGeom>
          <a:solidFill>
            <a:srgbClr val="E2E8F0"/>
          </a:solidFill>
          <a:ln w="12700">
            <a:solidFill>
              <a:srgbClr val="E2E8F0"/>
            </a:solidFill>
            <a:prstDash val="solid"/>
          </a:ln>
        </p:spPr>
      </p:sp>
      <p:sp>
        <p:nvSpPr>
          <p:cNvPr id="13" name="Text 10"/>
          <p:cNvSpPr/>
          <p:nvPr/>
        </p:nvSpPr>
        <p:spPr>
          <a:xfrm>
            <a:off x="484632" y="3611880"/>
            <a:ext cx="694944" cy="201168"/>
          </a:xfrm>
          <a:prstGeom prst="rect">
            <a:avLst/>
          </a:prstGeom>
          <a:noFill/>
          <a:ln/>
        </p:spPr>
        <p:txBody>
          <a:bodyPr wrap="square" lIns="0" tIns="0" rIns="0" bIns="0" rtlCol="0" anchor="ctr"/>
          <a:lstStyle/>
          <a:p>
            <a:pPr marL="0" indent="0">
              <a:buNone/>
            </a:pPr>
            <a:r>
              <a:rPr lang="en-US" sz="750" b="1" kern="0" spc="100" dirty="0">
                <a:solidFill>
                  <a:srgbClr val="64748B"/>
                </a:solidFill>
                <a:latin typeface="Calibri" pitchFamily="34" charset="0"/>
                <a:ea typeface="Calibri" pitchFamily="34" charset="-122"/>
                <a:cs typeface="Calibri" pitchFamily="34" charset="-120"/>
              </a:rPr>
              <a:t>INSIGHT</a:t>
            </a:r>
            <a:endParaRPr lang="en-US" sz="750" dirty="0"/>
          </a:p>
        </p:txBody>
      </p:sp>
      <p:sp>
        <p:nvSpPr>
          <p:cNvPr id="14" name="Text 11"/>
          <p:cNvSpPr/>
          <p:nvPr/>
        </p:nvSpPr>
        <p:spPr>
          <a:xfrm>
            <a:off x="457200" y="3840480"/>
            <a:ext cx="2487168" cy="822960"/>
          </a:xfrm>
          <a:prstGeom prst="rect">
            <a:avLst/>
          </a:prstGeom>
          <a:noFill/>
          <a:ln/>
        </p:spPr>
        <p:txBody>
          <a:bodyPr wrap="square" lIns="0" tIns="0" rIns="0" bIns="0" rtlCol="0" anchor="ctr"/>
          <a:lstStyle/>
          <a:p>
            <a:pPr marL="0" indent="0">
              <a:lnSpc>
                <a:spcPct val="135000"/>
              </a:lnSpc>
              <a:buNone/>
            </a:pPr>
            <a:r>
              <a:rPr lang="en-US" sz="900" dirty="0">
                <a:solidFill>
                  <a:srgbClr val="64748B"/>
                </a:solidFill>
                <a:latin typeface="Calibri" pitchFamily="34" charset="0"/>
                <a:ea typeface="Calibri" pitchFamily="34" charset="-122"/>
                <a:cs typeface="Calibri" pitchFamily="34" charset="-120"/>
              </a:rPr>
              <a:t>Highlight key stages where visitors drop off and suggest improvements to optimize the conversion funnel.</a:t>
            </a:r>
            <a:endParaRPr lang="en-US" sz="900" dirty="0"/>
          </a:p>
        </p:txBody>
      </p:sp>
      <p:sp>
        <p:nvSpPr>
          <p:cNvPr id="15" name="Shape 12"/>
          <p:cNvSpPr/>
          <p:nvPr/>
        </p:nvSpPr>
        <p:spPr>
          <a:xfrm>
            <a:off x="3218688" y="1234440"/>
            <a:ext cx="2743200" cy="356616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16" name="Shape 13"/>
          <p:cNvSpPr/>
          <p:nvPr/>
        </p:nvSpPr>
        <p:spPr>
          <a:xfrm>
            <a:off x="3218688" y="1234440"/>
            <a:ext cx="2743200" cy="73152"/>
          </a:xfrm>
          <a:prstGeom prst="rect">
            <a:avLst/>
          </a:prstGeom>
          <a:solidFill>
            <a:srgbClr val="00BFA5"/>
          </a:solidFill>
          <a:ln w="12700">
            <a:solidFill>
              <a:srgbClr val="00BFA5"/>
            </a:solidFill>
            <a:prstDash val="solid"/>
          </a:ln>
        </p:spPr>
      </p:sp>
      <p:sp>
        <p:nvSpPr>
          <p:cNvPr id="17" name="Shape 14"/>
          <p:cNvSpPr/>
          <p:nvPr/>
        </p:nvSpPr>
        <p:spPr>
          <a:xfrm>
            <a:off x="3355848" y="1389888"/>
            <a:ext cx="502920" cy="502920"/>
          </a:xfrm>
          <a:prstGeom prst="ellipse">
            <a:avLst/>
          </a:prstGeom>
          <a:solidFill>
            <a:srgbClr val="00BFA5">
              <a:alpha val="18000"/>
            </a:srgbClr>
          </a:solidFill>
          <a:ln w="12700">
            <a:solidFill>
              <a:srgbClr val="00BFA5">
                <a:alpha val="18000"/>
              </a:srgbClr>
            </a:solidFill>
            <a:prstDash val="solid"/>
          </a:ln>
        </p:spPr>
      </p:sp>
      <p:pic>
        <p:nvPicPr>
          <p:cNvPr id="18" name="Image 1" descr="preencoded.png"/>
          <p:cNvPicPr>
            <a:picLocks noChangeAspect="1"/>
          </p:cNvPicPr>
          <p:nvPr/>
        </p:nvPicPr>
        <p:blipFill>
          <a:blip r:embed="rId4"/>
          <a:stretch>
            <a:fillRect/>
          </a:stretch>
        </p:blipFill>
        <p:spPr>
          <a:xfrm>
            <a:off x="3438144" y="1472184"/>
            <a:ext cx="338328" cy="338328"/>
          </a:xfrm>
          <a:prstGeom prst="rect">
            <a:avLst/>
          </a:prstGeom>
        </p:spPr>
      </p:pic>
      <p:sp>
        <p:nvSpPr>
          <p:cNvPr id="19" name="Text 15"/>
          <p:cNvSpPr/>
          <p:nvPr/>
        </p:nvSpPr>
        <p:spPr>
          <a:xfrm>
            <a:off x="3355848" y="1993392"/>
            <a:ext cx="2487168" cy="502920"/>
          </a:xfrm>
          <a:prstGeom prst="rect">
            <a:avLst/>
          </a:prstGeom>
          <a:noFill/>
          <a:ln/>
        </p:spPr>
        <p:txBody>
          <a:bodyPr wrap="square" lIns="0" tIns="0" rIns="0" bIns="0" rtlCol="0" anchor="ctr"/>
          <a:lstStyle/>
          <a:p>
            <a:pPr marL="0" indent="0">
              <a:lnSpc>
                <a:spcPct val="120000"/>
              </a:lnSpc>
              <a:buNone/>
            </a:pPr>
            <a:r>
              <a:rPr lang="en-US" sz="1100" b="1" dirty="0">
                <a:solidFill>
                  <a:srgbClr val="0D1B2A"/>
                </a:solidFill>
                <a:latin typeface="Calibri" pitchFamily="34" charset="0"/>
                <a:ea typeface="Calibri" pitchFamily="34" charset="-122"/>
                <a:cs typeface="Calibri" pitchFamily="34" charset="-120"/>
              </a:rPr>
              <a:t>Enhance Customer Engagement</a:t>
            </a:r>
            <a:endParaRPr lang="en-US" sz="1100" dirty="0"/>
          </a:p>
        </p:txBody>
      </p:sp>
      <p:sp>
        <p:nvSpPr>
          <p:cNvPr id="20" name="Shape 16"/>
          <p:cNvSpPr/>
          <p:nvPr/>
        </p:nvSpPr>
        <p:spPr>
          <a:xfrm>
            <a:off x="3355848" y="2578608"/>
            <a:ext cx="548640" cy="201168"/>
          </a:xfrm>
          <a:prstGeom prst="rect">
            <a:avLst/>
          </a:prstGeom>
          <a:solidFill>
            <a:srgbClr val="00BFA5">
              <a:alpha val="22000"/>
            </a:srgbClr>
          </a:solidFill>
          <a:ln w="12700">
            <a:solidFill>
              <a:srgbClr val="00BFA5">
                <a:alpha val="22000"/>
              </a:srgbClr>
            </a:solidFill>
            <a:prstDash val="solid"/>
          </a:ln>
        </p:spPr>
      </p:sp>
      <p:sp>
        <p:nvSpPr>
          <p:cNvPr id="21" name="Text 17"/>
          <p:cNvSpPr/>
          <p:nvPr/>
        </p:nvSpPr>
        <p:spPr>
          <a:xfrm>
            <a:off x="3383280" y="2578608"/>
            <a:ext cx="530352" cy="201168"/>
          </a:xfrm>
          <a:prstGeom prst="rect">
            <a:avLst/>
          </a:prstGeom>
          <a:noFill/>
          <a:ln/>
        </p:spPr>
        <p:txBody>
          <a:bodyPr wrap="square" lIns="0" tIns="0" rIns="0" bIns="0" rtlCol="0" anchor="ctr"/>
          <a:lstStyle/>
          <a:p>
            <a:pPr marL="0" indent="0">
              <a:buNone/>
            </a:pPr>
            <a:r>
              <a:rPr lang="en-US" sz="750" b="1" kern="0" spc="100" dirty="0">
                <a:solidFill>
                  <a:srgbClr val="00BFA5"/>
                </a:solidFill>
                <a:latin typeface="Calibri" pitchFamily="34" charset="0"/>
                <a:ea typeface="Calibri" pitchFamily="34" charset="-122"/>
                <a:cs typeface="Calibri" pitchFamily="34" charset="-120"/>
              </a:rPr>
              <a:t>GOAL</a:t>
            </a:r>
            <a:endParaRPr lang="en-US" sz="750" dirty="0"/>
          </a:p>
        </p:txBody>
      </p:sp>
      <p:sp>
        <p:nvSpPr>
          <p:cNvPr id="22" name="Text 18"/>
          <p:cNvSpPr/>
          <p:nvPr/>
        </p:nvSpPr>
        <p:spPr>
          <a:xfrm>
            <a:off x="3355848" y="2816352"/>
            <a:ext cx="2487168" cy="749808"/>
          </a:xfrm>
          <a:prstGeom prst="rect">
            <a:avLst/>
          </a:prstGeom>
          <a:noFill/>
          <a:ln/>
        </p:spPr>
        <p:txBody>
          <a:bodyPr wrap="square" lIns="0" tIns="0" rIns="0" bIns="0" rtlCol="0" anchor="ctr"/>
          <a:lstStyle/>
          <a:p>
            <a:pPr marL="0" indent="0">
              <a:lnSpc>
                <a:spcPct val="135000"/>
              </a:lnSpc>
              <a:buNone/>
            </a:pPr>
            <a:r>
              <a:rPr lang="en-US" sz="900" dirty="0">
                <a:solidFill>
                  <a:srgbClr val="475569"/>
                </a:solidFill>
                <a:latin typeface="Calibri" pitchFamily="34" charset="0"/>
                <a:ea typeface="Calibri" pitchFamily="34" charset="-122"/>
                <a:cs typeface="Calibri" pitchFamily="34" charset="-120"/>
              </a:rPr>
              <a:t>Determine which types of content drive the highest engagement.</a:t>
            </a:r>
            <a:endParaRPr lang="en-US" sz="900" dirty="0"/>
          </a:p>
        </p:txBody>
      </p:sp>
      <p:sp>
        <p:nvSpPr>
          <p:cNvPr id="23" name="Shape 19"/>
          <p:cNvSpPr/>
          <p:nvPr/>
        </p:nvSpPr>
        <p:spPr>
          <a:xfrm>
            <a:off x="3355848" y="3611880"/>
            <a:ext cx="713232" cy="201168"/>
          </a:xfrm>
          <a:prstGeom prst="rect">
            <a:avLst/>
          </a:prstGeom>
          <a:solidFill>
            <a:srgbClr val="E2E8F0"/>
          </a:solidFill>
          <a:ln w="12700">
            <a:solidFill>
              <a:srgbClr val="E2E8F0"/>
            </a:solidFill>
            <a:prstDash val="solid"/>
          </a:ln>
        </p:spPr>
      </p:sp>
      <p:sp>
        <p:nvSpPr>
          <p:cNvPr id="24" name="Text 20"/>
          <p:cNvSpPr/>
          <p:nvPr/>
        </p:nvSpPr>
        <p:spPr>
          <a:xfrm>
            <a:off x="3383280" y="3611880"/>
            <a:ext cx="694944" cy="201168"/>
          </a:xfrm>
          <a:prstGeom prst="rect">
            <a:avLst/>
          </a:prstGeom>
          <a:noFill/>
          <a:ln/>
        </p:spPr>
        <p:txBody>
          <a:bodyPr wrap="square" lIns="0" tIns="0" rIns="0" bIns="0" rtlCol="0" anchor="ctr"/>
          <a:lstStyle/>
          <a:p>
            <a:pPr marL="0" indent="0">
              <a:buNone/>
            </a:pPr>
            <a:r>
              <a:rPr lang="en-US" sz="750" b="1" kern="0" spc="100" dirty="0">
                <a:solidFill>
                  <a:srgbClr val="64748B"/>
                </a:solidFill>
                <a:latin typeface="Calibri" pitchFamily="34" charset="0"/>
                <a:ea typeface="Calibri" pitchFamily="34" charset="-122"/>
                <a:cs typeface="Calibri" pitchFamily="34" charset="-120"/>
              </a:rPr>
              <a:t>INSIGHT</a:t>
            </a:r>
            <a:endParaRPr lang="en-US" sz="750" dirty="0"/>
          </a:p>
        </p:txBody>
      </p:sp>
      <p:sp>
        <p:nvSpPr>
          <p:cNvPr id="25" name="Text 21"/>
          <p:cNvSpPr/>
          <p:nvPr/>
        </p:nvSpPr>
        <p:spPr>
          <a:xfrm>
            <a:off x="3355848" y="3840480"/>
            <a:ext cx="2487168" cy="822960"/>
          </a:xfrm>
          <a:prstGeom prst="rect">
            <a:avLst/>
          </a:prstGeom>
          <a:noFill/>
          <a:ln/>
        </p:spPr>
        <p:txBody>
          <a:bodyPr wrap="square" lIns="0" tIns="0" rIns="0" bIns="0" rtlCol="0" anchor="ctr"/>
          <a:lstStyle/>
          <a:p>
            <a:pPr marL="0" indent="0">
              <a:lnSpc>
                <a:spcPct val="135000"/>
              </a:lnSpc>
              <a:buNone/>
            </a:pPr>
            <a:r>
              <a:rPr lang="en-US" sz="900" dirty="0">
                <a:solidFill>
                  <a:srgbClr val="64748B"/>
                </a:solidFill>
                <a:latin typeface="Calibri" pitchFamily="34" charset="0"/>
                <a:ea typeface="Calibri" pitchFamily="34" charset="-122"/>
                <a:cs typeface="Calibri" pitchFamily="34" charset="-120"/>
              </a:rPr>
              <a:t>Analyze interaction levels with different types of marketing content to inform better content strategies.</a:t>
            </a:r>
            <a:endParaRPr lang="en-US" sz="900" dirty="0"/>
          </a:p>
        </p:txBody>
      </p:sp>
      <p:sp>
        <p:nvSpPr>
          <p:cNvPr id="26" name="Shape 22"/>
          <p:cNvSpPr/>
          <p:nvPr/>
        </p:nvSpPr>
        <p:spPr>
          <a:xfrm>
            <a:off x="6117336" y="1234440"/>
            <a:ext cx="2743200" cy="356616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sp>
      <p:sp>
        <p:nvSpPr>
          <p:cNvPr id="27" name="Shape 23"/>
          <p:cNvSpPr/>
          <p:nvPr/>
        </p:nvSpPr>
        <p:spPr>
          <a:xfrm>
            <a:off x="6117336" y="1234440"/>
            <a:ext cx="2743200" cy="73152"/>
          </a:xfrm>
          <a:prstGeom prst="rect">
            <a:avLst/>
          </a:prstGeom>
          <a:solidFill>
            <a:srgbClr val="FF8F00"/>
          </a:solidFill>
          <a:ln w="12700">
            <a:solidFill>
              <a:srgbClr val="FF8F00"/>
            </a:solidFill>
            <a:prstDash val="solid"/>
          </a:ln>
        </p:spPr>
      </p:sp>
      <p:sp>
        <p:nvSpPr>
          <p:cNvPr id="28" name="Shape 24"/>
          <p:cNvSpPr/>
          <p:nvPr/>
        </p:nvSpPr>
        <p:spPr>
          <a:xfrm>
            <a:off x="6254496" y="1389888"/>
            <a:ext cx="502920" cy="502920"/>
          </a:xfrm>
          <a:prstGeom prst="ellipse">
            <a:avLst/>
          </a:prstGeom>
          <a:solidFill>
            <a:srgbClr val="FF8F00">
              <a:alpha val="18000"/>
            </a:srgbClr>
          </a:solidFill>
          <a:ln w="12700">
            <a:solidFill>
              <a:srgbClr val="FF8F00">
                <a:alpha val="18000"/>
              </a:srgbClr>
            </a:solidFill>
            <a:prstDash val="solid"/>
          </a:ln>
        </p:spPr>
      </p:sp>
      <p:pic>
        <p:nvPicPr>
          <p:cNvPr id="29" name="Image 2" descr="preencoded.png"/>
          <p:cNvPicPr>
            <a:picLocks noChangeAspect="1"/>
          </p:cNvPicPr>
          <p:nvPr/>
        </p:nvPicPr>
        <p:blipFill>
          <a:blip r:embed="rId5"/>
          <a:stretch>
            <a:fillRect/>
          </a:stretch>
        </p:blipFill>
        <p:spPr>
          <a:xfrm>
            <a:off x="6336792" y="1472184"/>
            <a:ext cx="338328" cy="338328"/>
          </a:xfrm>
          <a:prstGeom prst="rect">
            <a:avLst/>
          </a:prstGeom>
        </p:spPr>
      </p:pic>
      <p:sp>
        <p:nvSpPr>
          <p:cNvPr id="30" name="Text 25"/>
          <p:cNvSpPr/>
          <p:nvPr/>
        </p:nvSpPr>
        <p:spPr>
          <a:xfrm>
            <a:off x="6254496" y="1993392"/>
            <a:ext cx="2487168" cy="502920"/>
          </a:xfrm>
          <a:prstGeom prst="rect">
            <a:avLst/>
          </a:prstGeom>
          <a:noFill/>
          <a:ln/>
        </p:spPr>
        <p:txBody>
          <a:bodyPr wrap="square" lIns="0" tIns="0" rIns="0" bIns="0" rtlCol="0" anchor="ctr"/>
          <a:lstStyle/>
          <a:p>
            <a:pPr marL="0" indent="0">
              <a:lnSpc>
                <a:spcPct val="120000"/>
              </a:lnSpc>
              <a:buNone/>
            </a:pPr>
            <a:r>
              <a:rPr lang="en-US" sz="1100" b="1" dirty="0">
                <a:solidFill>
                  <a:srgbClr val="0D1B2A"/>
                </a:solidFill>
                <a:latin typeface="Calibri" pitchFamily="34" charset="0"/>
                <a:ea typeface="Calibri" pitchFamily="34" charset="-122"/>
                <a:cs typeface="Calibri" pitchFamily="34" charset="-120"/>
              </a:rPr>
              <a:t>Improve Customer Feedback Scores</a:t>
            </a:r>
            <a:endParaRPr lang="en-US" sz="1100" dirty="0"/>
          </a:p>
        </p:txBody>
      </p:sp>
      <p:sp>
        <p:nvSpPr>
          <p:cNvPr id="31" name="Shape 26"/>
          <p:cNvSpPr/>
          <p:nvPr/>
        </p:nvSpPr>
        <p:spPr>
          <a:xfrm>
            <a:off x="6254496" y="2578608"/>
            <a:ext cx="548640" cy="201168"/>
          </a:xfrm>
          <a:prstGeom prst="rect">
            <a:avLst/>
          </a:prstGeom>
          <a:solidFill>
            <a:srgbClr val="FF8F00">
              <a:alpha val="22000"/>
            </a:srgbClr>
          </a:solidFill>
          <a:ln w="12700">
            <a:solidFill>
              <a:srgbClr val="FF8F00">
                <a:alpha val="22000"/>
              </a:srgbClr>
            </a:solidFill>
            <a:prstDash val="solid"/>
          </a:ln>
        </p:spPr>
      </p:sp>
      <p:sp>
        <p:nvSpPr>
          <p:cNvPr id="32" name="Text 27"/>
          <p:cNvSpPr/>
          <p:nvPr/>
        </p:nvSpPr>
        <p:spPr>
          <a:xfrm>
            <a:off x="6281928" y="2578608"/>
            <a:ext cx="530352" cy="201168"/>
          </a:xfrm>
          <a:prstGeom prst="rect">
            <a:avLst/>
          </a:prstGeom>
          <a:noFill/>
          <a:ln/>
        </p:spPr>
        <p:txBody>
          <a:bodyPr wrap="square" lIns="0" tIns="0" rIns="0" bIns="0" rtlCol="0" anchor="ctr"/>
          <a:lstStyle/>
          <a:p>
            <a:pPr marL="0" indent="0">
              <a:buNone/>
            </a:pPr>
            <a:r>
              <a:rPr lang="en-US" sz="750" b="1" kern="0" spc="100" dirty="0">
                <a:solidFill>
                  <a:srgbClr val="FF8F00"/>
                </a:solidFill>
                <a:latin typeface="Calibri" pitchFamily="34" charset="0"/>
                <a:ea typeface="Calibri" pitchFamily="34" charset="-122"/>
                <a:cs typeface="Calibri" pitchFamily="34" charset="-120"/>
              </a:rPr>
              <a:t>GOAL</a:t>
            </a:r>
            <a:endParaRPr lang="en-US" sz="750" dirty="0"/>
          </a:p>
        </p:txBody>
      </p:sp>
      <p:sp>
        <p:nvSpPr>
          <p:cNvPr id="33" name="Text 28"/>
          <p:cNvSpPr/>
          <p:nvPr/>
        </p:nvSpPr>
        <p:spPr>
          <a:xfrm>
            <a:off x="6254496" y="2816352"/>
            <a:ext cx="2487168" cy="749808"/>
          </a:xfrm>
          <a:prstGeom prst="rect">
            <a:avLst/>
          </a:prstGeom>
          <a:noFill/>
          <a:ln/>
        </p:spPr>
        <p:txBody>
          <a:bodyPr wrap="square" lIns="0" tIns="0" rIns="0" bIns="0" rtlCol="0" anchor="ctr"/>
          <a:lstStyle/>
          <a:p>
            <a:pPr marL="0" indent="0">
              <a:lnSpc>
                <a:spcPct val="135000"/>
              </a:lnSpc>
              <a:buNone/>
            </a:pPr>
            <a:r>
              <a:rPr lang="en-US" sz="900" dirty="0">
                <a:solidFill>
                  <a:srgbClr val="475569"/>
                </a:solidFill>
                <a:latin typeface="Calibri" pitchFamily="34" charset="0"/>
                <a:ea typeface="Calibri" pitchFamily="34" charset="-122"/>
                <a:cs typeface="Calibri" pitchFamily="34" charset="-120"/>
              </a:rPr>
              <a:t>Understand common themes in customer reviews and provide actionable insights.</a:t>
            </a:r>
            <a:endParaRPr lang="en-US" sz="900" dirty="0"/>
          </a:p>
        </p:txBody>
      </p:sp>
      <p:sp>
        <p:nvSpPr>
          <p:cNvPr id="34" name="Shape 29"/>
          <p:cNvSpPr/>
          <p:nvPr/>
        </p:nvSpPr>
        <p:spPr>
          <a:xfrm>
            <a:off x="6254496" y="3611880"/>
            <a:ext cx="713232" cy="201168"/>
          </a:xfrm>
          <a:prstGeom prst="rect">
            <a:avLst/>
          </a:prstGeom>
          <a:solidFill>
            <a:srgbClr val="E2E8F0"/>
          </a:solidFill>
          <a:ln w="12700">
            <a:solidFill>
              <a:srgbClr val="E2E8F0"/>
            </a:solidFill>
            <a:prstDash val="solid"/>
          </a:ln>
        </p:spPr>
      </p:sp>
      <p:sp>
        <p:nvSpPr>
          <p:cNvPr id="35" name="Text 30"/>
          <p:cNvSpPr/>
          <p:nvPr/>
        </p:nvSpPr>
        <p:spPr>
          <a:xfrm>
            <a:off x="6281928" y="3611880"/>
            <a:ext cx="694944" cy="201168"/>
          </a:xfrm>
          <a:prstGeom prst="rect">
            <a:avLst/>
          </a:prstGeom>
          <a:noFill/>
          <a:ln/>
        </p:spPr>
        <p:txBody>
          <a:bodyPr wrap="square" lIns="0" tIns="0" rIns="0" bIns="0" rtlCol="0" anchor="ctr"/>
          <a:lstStyle/>
          <a:p>
            <a:pPr marL="0" indent="0">
              <a:buNone/>
            </a:pPr>
            <a:r>
              <a:rPr lang="en-US" sz="750" b="1" kern="0" spc="100" dirty="0">
                <a:solidFill>
                  <a:srgbClr val="64748B"/>
                </a:solidFill>
                <a:latin typeface="Calibri" pitchFamily="34" charset="0"/>
                <a:ea typeface="Calibri" pitchFamily="34" charset="-122"/>
                <a:cs typeface="Calibri" pitchFamily="34" charset="-120"/>
              </a:rPr>
              <a:t>INSIGHT</a:t>
            </a:r>
            <a:endParaRPr lang="en-US" sz="750" dirty="0"/>
          </a:p>
        </p:txBody>
      </p:sp>
      <p:sp>
        <p:nvSpPr>
          <p:cNvPr id="36" name="Text 31"/>
          <p:cNvSpPr/>
          <p:nvPr/>
        </p:nvSpPr>
        <p:spPr>
          <a:xfrm>
            <a:off x="6254496" y="3840480"/>
            <a:ext cx="2487168" cy="822960"/>
          </a:xfrm>
          <a:prstGeom prst="rect">
            <a:avLst/>
          </a:prstGeom>
          <a:noFill/>
          <a:ln/>
        </p:spPr>
        <p:txBody>
          <a:bodyPr wrap="square" lIns="0" tIns="0" rIns="0" bIns="0" rtlCol="0" anchor="ctr"/>
          <a:lstStyle/>
          <a:p>
            <a:pPr marL="0" indent="0">
              <a:lnSpc>
                <a:spcPct val="135000"/>
              </a:lnSpc>
              <a:buNone/>
            </a:pPr>
            <a:r>
              <a:rPr lang="en-US" sz="900" dirty="0">
                <a:solidFill>
                  <a:srgbClr val="64748B"/>
                </a:solidFill>
                <a:latin typeface="Calibri" pitchFamily="34" charset="0"/>
                <a:ea typeface="Calibri" pitchFamily="34" charset="-122"/>
                <a:cs typeface="Calibri" pitchFamily="34" charset="-120"/>
              </a:rPr>
              <a:t>Identify recurring positive and negative feedback to guide product and service improvements.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623</Words>
  <Application>Microsoft Office PowerPoint</Application>
  <PresentationFormat>On-screen Show (16:9)</PresentationFormat>
  <Paragraphs>77</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Marketing Performance &amp; Conversion Analytics</dc:title>
  <dc:subject>PptxGenJS Presentation</dc:subject>
  <dc:creator>PptxGenJS</dc:creator>
  <cp:lastModifiedBy>arun sharma</cp:lastModifiedBy>
  <cp:revision>2</cp:revision>
  <dcterms:created xsi:type="dcterms:W3CDTF">2026-05-21T12:09:11Z</dcterms:created>
  <dcterms:modified xsi:type="dcterms:W3CDTF">2026-05-23T09:38:35Z</dcterms:modified>
</cp:coreProperties>
</file>